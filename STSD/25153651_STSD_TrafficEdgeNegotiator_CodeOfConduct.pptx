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8A838"/>
          </a:solidFill>
          <a:ln/>
        </p:spPr>
      </p:sp>
      <p:sp>
        <p:nvSpPr>
          <p:cNvPr id="3" name="Shape 1"/>
          <p:cNvSpPr/>
          <p:nvPr/>
        </p:nvSpPr>
        <p:spPr>
          <a:xfrm>
            <a:off x="0" y="4754880"/>
            <a:ext cx="9144000" cy="388620"/>
          </a:xfrm>
          <a:prstGeom prst="rect">
            <a:avLst/>
          </a:prstGeom>
          <a:solidFill>
            <a:srgbClr val="16213E"/>
          </a:solidFill>
          <a:ln/>
        </p:spPr>
      </p:sp>
      <p:pic>
        <p:nvPicPr>
          <p:cNvPr id="4" name="Image 0" descr="preencoded.png">    </p:cNvPr>
          <p:cNvPicPr>
            <a:picLocks noChangeAspect="1"/>
          </p:cNvPicPr>
          <p:nvPr/>
        </p:nvPicPr>
        <p:blipFill>
          <a:blip r:embed="rId1"/>
          <a:stretch>
            <a:fillRect/>
          </a:stretch>
        </p:blipFill>
        <p:spPr>
          <a:xfrm>
            <a:off x="914400" y="731520"/>
            <a:ext cx="1097280" cy="1097280"/>
          </a:xfrm>
          <a:prstGeom prst="rect">
            <a:avLst/>
          </a:prstGeom>
        </p:spPr>
      </p:pic>
      <p:sp>
        <p:nvSpPr>
          <p:cNvPr id="5" name="Text 2"/>
          <p:cNvSpPr/>
          <p:nvPr/>
        </p:nvSpPr>
        <p:spPr>
          <a:xfrm>
            <a:off x="731520" y="1920240"/>
            <a:ext cx="7772400" cy="822960"/>
          </a:xfrm>
          <a:prstGeom prst="rect">
            <a:avLst/>
          </a:prstGeom>
          <a:noFill/>
          <a:ln/>
        </p:spPr>
        <p:txBody>
          <a:bodyPr wrap="square" lIns="0" tIns="0" rIns="0" bIns="0" rtlCol="0" anchor="ctr"/>
          <a:lstStyle/>
          <a:p>
            <a:pPr indent="0" marL="0">
              <a:buNone/>
            </a:pPr>
            <a:r>
              <a:rPr lang="en-US" sz="4200" b="1" dirty="0">
                <a:solidFill>
                  <a:srgbClr val="E8A838"/>
                </a:solidFill>
                <a:latin typeface="Georgia" pitchFamily="34" charset="0"/>
                <a:ea typeface="Georgia" pitchFamily="34" charset="-122"/>
                <a:cs typeface="Georgia" pitchFamily="34" charset="-120"/>
              </a:rPr>
              <a:t>Code of Conduct</a:t>
            </a:r>
            <a:endParaRPr lang="en-US" sz="4200" dirty="0"/>
          </a:p>
        </p:txBody>
      </p:sp>
      <p:sp>
        <p:nvSpPr>
          <p:cNvPr id="6" name="Text 3"/>
          <p:cNvSpPr/>
          <p:nvPr/>
        </p:nvSpPr>
        <p:spPr>
          <a:xfrm>
            <a:off x="731520" y="2651760"/>
            <a:ext cx="7772400" cy="914400"/>
          </a:xfrm>
          <a:prstGeom prst="rect">
            <a:avLst/>
          </a:prstGeom>
          <a:noFill/>
          <a:ln/>
        </p:spPr>
        <p:txBody>
          <a:bodyPr wrap="square" lIns="0" tIns="0" rIns="0" bIns="0" rtlCol="0" anchor="ctr"/>
          <a:lstStyle/>
          <a:p>
            <a:pPr indent="0" marL="0">
              <a:buNone/>
            </a:pPr>
            <a:r>
              <a:rPr lang="en-US" sz="2400" dirty="0">
                <a:solidFill>
                  <a:srgbClr val="FFFFFF"/>
                </a:solidFill>
                <a:latin typeface="Georgia" pitchFamily="34" charset="0"/>
                <a:ea typeface="Georgia" pitchFamily="34" charset="-122"/>
                <a:cs typeface="Georgia" pitchFamily="34" charset="-120"/>
              </a:rPr>
              <a:t>for Decentralized Autonomous</a:t>
            </a:r>
            <a:endParaRPr lang="en-US" sz="2400" dirty="0"/>
          </a:p>
          <a:p>
            <a:pPr indent="0" marL="0">
              <a:buNone/>
            </a:pPr>
            <a:r>
              <a:rPr lang="en-US" sz="2400" dirty="0">
                <a:solidFill>
                  <a:srgbClr val="FFFFFF"/>
                </a:solidFill>
                <a:latin typeface="Georgia" pitchFamily="34" charset="0"/>
                <a:ea typeface="Georgia" pitchFamily="34" charset="-122"/>
                <a:cs typeface="Georgia" pitchFamily="34" charset="-120"/>
              </a:rPr>
              <a:t>Traffic Optimization</a:t>
            </a:r>
            <a:endParaRPr lang="en-US" sz="2400" dirty="0"/>
          </a:p>
        </p:txBody>
      </p:sp>
      <p:sp>
        <p:nvSpPr>
          <p:cNvPr id="7" name="Text 4"/>
          <p:cNvSpPr/>
          <p:nvPr/>
        </p:nvSpPr>
        <p:spPr>
          <a:xfrm>
            <a:off x="731520" y="3749040"/>
            <a:ext cx="7315200" cy="457200"/>
          </a:xfrm>
          <a:prstGeom prst="rect">
            <a:avLst/>
          </a:prstGeom>
          <a:noFill/>
          <a:ln/>
        </p:spPr>
        <p:txBody>
          <a:bodyPr wrap="square" lIns="0" tIns="0" rIns="0" bIns="0" rtlCol="0" anchor="ctr"/>
          <a:lstStyle/>
          <a:p>
            <a:pPr indent="0" marL="0">
              <a:buNone/>
            </a:pPr>
            <a:r>
              <a:rPr lang="en-US" sz="1300" i="1" dirty="0">
                <a:solidFill>
                  <a:srgbClr val="9CA3AF"/>
                </a:solidFill>
                <a:latin typeface="Calibri" pitchFamily="34" charset="0"/>
                <a:ea typeface="Calibri" pitchFamily="34" charset="-122"/>
                <a:cs typeface="Calibri" pitchFamily="34" charset="-120"/>
              </a:rPr>
              <a:t>An IoT/Sensor System using Blockchain-Anchored Edge AI</a:t>
            </a:r>
            <a:endParaRPr lang="en-US" sz="1300" dirty="0"/>
          </a:p>
        </p:txBody>
      </p:sp>
      <p:sp>
        <p:nvSpPr>
          <p:cNvPr id="8" name="Text 5"/>
          <p:cNvSpPr/>
          <p:nvPr/>
        </p:nvSpPr>
        <p:spPr>
          <a:xfrm>
            <a:off x="731520" y="4800600"/>
            <a:ext cx="4572000" cy="320040"/>
          </a:xfrm>
          <a:prstGeom prst="rect">
            <a:avLst/>
          </a:prstGeom>
          <a:noFill/>
          <a:ln/>
        </p:spPr>
        <p:txBody>
          <a:bodyPr wrap="square" lIns="0" tIns="0" rIns="0" bIns="0" rtlCol="0" anchor="ctr"/>
          <a:lstStyle/>
          <a:p>
            <a:pPr indent="0" marL="0">
              <a:buNone/>
            </a:pPr>
            <a:r>
              <a:rPr lang="en-US" sz="1100" dirty="0">
                <a:solidFill>
                  <a:srgbClr val="9CA3AF"/>
                </a:solidFill>
                <a:latin typeface="Calibri" pitchFamily="34" charset="0"/>
                <a:ea typeface="Calibri" pitchFamily="34" charset="-122"/>
                <a:cs typeface="Calibri" pitchFamily="34" charset="-120"/>
              </a:rPr>
              <a:t>COMP0184 — System Thinking through Speculative Design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213E"/>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A838"/>
          </a:solidFill>
          <a:ln/>
        </p:spPr>
      </p:sp>
      <p:sp>
        <p:nvSpPr>
          <p:cNvPr id="3" name="Text 1"/>
          <p:cNvSpPr/>
          <p:nvPr/>
        </p:nvSpPr>
        <p:spPr>
          <a:xfrm>
            <a:off x="640080" y="274320"/>
            <a:ext cx="1828800" cy="274320"/>
          </a:xfrm>
          <a:prstGeom prst="rect">
            <a:avLst/>
          </a:prstGeom>
          <a:noFill/>
          <a:ln/>
        </p:spPr>
        <p:txBody>
          <a:bodyPr wrap="square" lIns="0" tIns="0" rIns="0" bIns="0" rtlCol="0" anchor="ctr"/>
          <a:lstStyle/>
          <a:p>
            <a:pPr indent="0" marL="0">
              <a:buNone/>
            </a:pPr>
            <a:r>
              <a:rPr lang="en-US" sz="1100" b="1" spc="400" kern="0" dirty="0">
                <a:solidFill>
                  <a:srgbClr val="E8A838"/>
                </a:solidFill>
                <a:latin typeface="Calibri" pitchFamily="34" charset="0"/>
                <a:ea typeface="Calibri" pitchFamily="34" charset="-122"/>
                <a:cs typeface="Calibri" pitchFamily="34" charset="-120"/>
              </a:rPr>
              <a:t>PART 1</a:t>
            </a:r>
            <a:endParaRPr lang="en-US" sz="1100" dirty="0"/>
          </a:p>
        </p:txBody>
      </p:sp>
      <p:sp>
        <p:nvSpPr>
          <p:cNvPr id="4" name="Text 2"/>
          <p:cNvSpPr/>
          <p:nvPr/>
        </p:nvSpPr>
        <p:spPr>
          <a:xfrm>
            <a:off x="640080" y="502920"/>
            <a:ext cx="7772400" cy="548640"/>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The "Edge Negotiator" System</a:t>
            </a:r>
            <a:endParaRPr lang="en-US" sz="3000" dirty="0"/>
          </a:p>
        </p:txBody>
      </p:sp>
      <p:sp>
        <p:nvSpPr>
          <p:cNvPr id="5" name="Shape 3"/>
          <p:cNvSpPr/>
          <p:nvPr/>
        </p:nvSpPr>
        <p:spPr>
          <a:xfrm>
            <a:off x="640080" y="1234440"/>
            <a:ext cx="7863840" cy="822960"/>
          </a:xfrm>
          <a:prstGeom prst="rect">
            <a:avLst/>
          </a:prstGeom>
          <a:solidFill>
            <a:srgbClr val="1E2A4A"/>
          </a:solidFill>
          <a:ln/>
          <a:effectLst>
            <a:outerShdw sx="100000" sy="100000" kx="0" ky="0" algn="bl" rotWithShape="0" blurRad="101600" dist="38100" dir="8100000">
              <a:srgbClr val="000000">
                <a:alpha val="30000"/>
              </a:srgbClr>
            </a:outerShdw>
          </a:effectLst>
        </p:spPr>
      </p:sp>
      <p:sp>
        <p:nvSpPr>
          <p:cNvPr id="6" name="Shape 4"/>
          <p:cNvSpPr/>
          <p:nvPr/>
        </p:nvSpPr>
        <p:spPr>
          <a:xfrm>
            <a:off x="640080" y="1234440"/>
            <a:ext cx="73152" cy="822960"/>
          </a:xfrm>
          <a:prstGeom prst="rect">
            <a:avLst/>
          </a:prstGeom>
          <a:solidFill>
            <a:srgbClr val="E8A838"/>
          </a:solidFill>
          <a:ln/>
        </p:spPr>
      </p:sp>
      <p:sp>
        <p:nvSpPr>
          <p:cNvPr id="7" name="Text 5"/>
          <p:cNvSpPr/>
          <p:nvPr/>
        </p:nvSpPr>
        <p:spPr>
          <a:xfrm>
            <a:off x="960120" y="1280160"/>
            <a:ext cx="7315200" cy="731520"/>
          </a:xfrm>
          <a:prstGeom prst="rect">
            <a:avLst/>
          </a:prstGeom>
          <a:noFill/>
          <a:ln/>
        </p:spPr>
        <p:txBody>
          <a:bodyPr wrap="square" lIns="0" tIns="0" rIns="0" bIns="0" rtlCol="0" anchor="ctr"/>
          <a:lstStyle/>
          <a:p>
            <a:pPr indent="0" marL="0">
              <a:lnSpc>
                <a:spcPct val="130000"/>
              </a:lnSpc>
              <a:buNone/>
            </a:pPr>
            <a:r>
              <a:rPr lang="en-US" sz="1250" dirty="0">
                <a:solidFill>
                  <a:srgbClr val="E8E8E8"/>
                </a:solidFill>
                <a:latin typeface="Calibri" pitchFamily="34" charset="0"/>
                <a:ea typeface="Calibri" pitchFamily="34" charset="-122"/>
                <a:cs typeface="Calibri" pitchFamily="34" charset="-120"/>
              </a:rPr>
              <a:t>Each intersection runs an autonomous AI agent (Phi-3 Mini SLM) on edge hardware. Agents negotiate traffic priority in real-time via semantic reasoning. Every decision is cryptographically signed and logged on a blockchain — acting first, then proving safety.</a:t>
            </a:r>
            <a:endParaRPr lang="en-US" sz="1250" dirty="0"/>
          </a:p>
        </p:txBody>
      </p:sp>
      <p:sp>
        <p:nvSpPr>
          <p:cNvPr id="8" name="Shape 6"/>
          <p:cNvSpPr/>
          <p:nvPr/>
        </p:nvSpPr>
        <p:spPr>
          <a:xfrm>
            <a:off x="457200" y="2331720"/>
            <a:ext cx="1920240" cy="1783080"/>
          </a:xfrm>
          <a:prstGeom prst="rect">
            <a:avLst/>
          </a:prstGeom>
          <a:solidFill>
            <a:srgbClr val="1E2A4A"/>
          </a:solidFill>
          <a:ln/>
          <a:effectLst>
            <a:outerShdw sx="100000" sy="100000" kx="0" ky="0" algn="bl" rotWithShape="0" blurRad="101600" dist="38100" dir="8100000">
              <a:srgbClr val="000000">
                <a:alpha val="30000"/>
              </a:srgbClr>
            </a:outerShdw>
          </a:effectLst>
        </p:spPr>
      </p:sp>
      <p:sp>
        <p:nvSpPr>
          <p:cNvPr id="9" name="Shape 7"/>
          <p:cNvSpPr/>
          <p:nvPr/>
        </p:nvSpPr>
        <p:spPr>
          <a:xfrm>
            <a:off x="457200" y="2331720"/>
            <a:ext cx="1920240" cy="45720"/>
          </a:xfrm>
          <a:prstGeom prst="rect">
            <a:avLst/>
          </a:prstGeom>
          <a:solidFill>
            <a:srgbClr val="3B82F6"/>
          </a:solidFill>
          <a:ln/>
        </p:spPr>
      </p:sp>
      <p:sp>
        <p:nvSpPr>
          <p:cNvPr id="10" name="Shape 8"/>
          <p:cNvSpPr/>
          <p:nvPr/>
        </p:nvSpPr>
        <p:spPr>
          <a:xfrm>
            <a:off x="1143000" y="2468880"/>
            <a:ext cx="457200" cy="457200"/>
          </a:xfrm>
          <a:prstGeom prst="ellipse">
            <a:avLst/>
          </a:prstGeom>
          <a:solidFill>
            <a:srgbClr val="3B82F6"/>
          </a:solidFill>
          <a:ln/>
        </p:spPr>
      </p:sp>
      <p:sp>
        <p:nvSpPr>
          <p:cNvPr id="11" name="Text 9"/>
          <p:cNvSpPr/>
          <p:nvPr/>
        </p:nvSpPr>
        <p:spPr>
          <a:xfrm>
            <a:off x="1143000" y="24688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12" name="Text 10"/>
          <p:cNvSpPr/>
          <p:nvPr/>
        </p:nvSpPr>
        <p:spPr>
          <a:xfrm>
            <a:off x="548640" y="2971800"/>
            <a:ext cx="173736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Perceive</a:t>
            </a:r>
            <a:endParaRPr lang="en-US" sz="1400" dirty="0"/>
          </a:p>
        </p:txBody>
      </p:sp>
      <p:sp>
        <p:nvSpPr>
          <p:cNvPr id="13" name="Text 11"/>
          <p:cNvSpPr/>
          <p:nvPr/>
        </p:nvSpPr>
        <p:spPr>
          <a:xfrm>
            <a:off x="594360" y="3291840"/>
            <a:ext cx="1645920" cy="685800"/>
          </a:xfrm>
          <a:prstGeom prst="rect">
            <a:avLst/>
          </a:prstGeom>
          <a:noFill/>
          <a:ln/>
        </p:spPr>
        <p:txBody>
          <a:bodyPr wrap="square" lIns="0" tIns="0" rIns="0" bIns="0" rtlCol="0" anchor="ctr"/>
          <a:lstStyle/>
          <a:p>
            <a:pPr algn="ctr" indent="0" marL="0">
              <a:lnSpc>
                <a:spcPct val="120000"/>
              </a:lnSpc>
              <a:buNone/>
            </a:pPr>
            <a:r>
              <a:rPr lang="en-US" sz="1050" dirty="0">
                <a:solidFill>
                  <a:srgbClr val="9CA3AF"/>
                </a:solidFill>
                <a:latin typeface="Calibri" pitchFamily="34" charset="0"/>
                <a:ea typeface="Calibri" pitchFamily="34" charset="-122"/>
                <a:cs typeface="Calibri" pitchFamily="34" charset="-120"/>
              </a:rPr>
              <a:t>Sensors detect vehicles via SUMO</a:t>
            </a:r>
            <a:endParaRPr lang="en-US" sz="1050" dirty="0"/>
          </a:p>
        </p:txBody>
      </p:sp>
      <p:pic>
        <p:nvPicPr>
          <p:cNvPr id="14" name="Image 0" descr="preencoded.png">    </p:cNvPr>
          <p:cNvPicPr>
            <a:picLocks noChangeAspect="1"/>
          </p:cNvPicPr>
          <p:nvPr/>
        </p:nvPicPr>
        <p:blipFill>
          <a:blip r:embed="rId1"/>
          <a:stretch>
            <a:fillRect/>
          </a:stretch>
        </p:blipFill>
        <p:spPr>
          <a:xfrm>
            <a:off x="2423160" y="2834640"/>
            <a:ext cx="182880" cy="182880"/>
          </a:xfrm>
          <a:prstGeom prst="rect">
            <a:avLst/>
          </a:prstGeom>
        </p:spPr>
      </p:pic>
      <p:sp>
        <p:nvSpPr>
          <p:cNvPr id="15" name="Shape 12"/>
          <p:cNvSpPr/>
          <p:nvPr/>
        </p:nvSpPr>
        <p:spPr>
          <a:xfrm>
            <a:off x="2606040" y="2331720"/>
            <a:ext cx="1920240" cy="1783080"/>
          </a:xfrm>
          <a:prstGeom prst="rect">
            <a:avLst/>
          </a:prstGeom>
          <a:solidFill>
            <a:srgbClr val="1E2A4A"/>
          </a:solidFill>
          <a:ln/>
          <a:effectLst>
            <a:outerShdw sx="100000" sy="100000" kx="0" ky="0" algn="bl" rotWithShape="0" blurRad="101600" dist="38100" dir="8100000">
              <a:srgbClr val="000000">
                <a:alpha val="30000"/>
              </a:srgbClr>
            </a:outerShdw>
          </a:effectLst>
        </p:spPr>
      </p:sp>
      <p:sp>
        <p:nvSpPr>
          <p:cNvPr id="16" name="Shape 13"/>
          <p:cNvSpPr/>
          <p:nvPr/>
        </p:nvSpPr>
        <p:spPr>
          <a:xfrm>
            <a:off x="2606040" y="2331720"/>
            <a:ext cx="1920240" cy="45720"/>
          </a:xfrm>
          <a:prstGeom prst="rect">
            <a:avLst/>
          </a:prstGeom>
          <a:solidFill>
            <a:srgbClr val="E8A838"/>
          </a:solidFill>
          <a:ln/>
        </p:spPr>
      </p:sp>
      <p:sp>
        <p:nvSpPr>
          <p:cNvPr id="17" name="Shape 14"/>
          <p:cNvSpPr/>
          <p:nvPr/>
        </p:nvSpPr>
        <p:spPr>
          <a:xfrm>
            <a:off x="3291840" y="2468880"/>
            <a:ext cx="457200" cy="457200"/>
          </a:xfrm>
          <a:prstGeom prst="ellipse">
            <a:avLst/>
          </a:prstGeom>
          <a:solidFill>
            <a:srgbClr val="E8A838"/>
          </a:solidFill>
          <a:ln/>
        </p:spPr>
      </p:sp>
      <p:sp>
        <p:nvSpPr>
          <p:cNvPr id="18" name="Text 15"/>
          <p:cNvSpPr/>
          <p:nvPr/>
        </p:nvSpPr>
        <p:spPr>
          <a:xfrm>
            <a:off x="3291840" y="24688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9" name="Text 16"/>
          <p:cNvSpPr/>
          <p:nvPr/>
        </p:nvSpPr>
        <p:spPr>
          <a:xfrm>
            <a:off x="2697480" y="2971800"/>
            <a:ext cx="173736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Reason</a:t>
            </a:r>
            <a:endParaRPr lang="en-US" sz="1400" dirty="0"/>
          </a:p>
        </p:txBody>
      </p:sp>
      <p:sp>
        <p:nvSpPr>
          <p:cNvPr id="20" name="Text 17"/>
          <p:cNvSpPr/>
          <p:nvPr/>
        </p:nvSpPr>
        <p:spPr>
          <a:xfrm>
            <a:off x="2743200" y="3291840"/>
            <a:ext cx="1645920" cy="685800"/>
          </a:xfrm>
          <a:prstGeom prst="rect">
            <a:avLst/>
          </a:prstGeom>
          <a:noFill/>
          <a:ln/>
        </p:spPr>
        <p:txBody>
          <a:bodyPr wrap="square" lIns="0" tIns="0" rIns="0" bIns="0" rtlCol="0" anchor="ctr"/>
          <a:lstStyle/>
          <a:p>
            <a:pPr algn="ctr" indent="0" marL="0">
              <a:lnSpc>
                <a:spcPct val="120000"/>
              </a:lnSpc>
              <a:buNone/>
            </a:pPr>
            <a:r>
              <a:rPr lang="en-US" sz="1050" dirty="0">
                <a:solidFill>
                  <a:srgbClr val="9CA3AF"/>
                </a:solidFill>
                <a:latin typeface="Calibri" pitchFamily="34" charset="0"/>
                <a:ea typeface="Calibri" pitchFamily="34" charset="-122"/>
                <a:cs typeface="Calibri" pitchFamily="34" charset="-120"/>
              </a:rPr>
              <a:t>Phi-3 evaluates priority semantically</a:t>
            </a:r>
            <a:endParaRPr lang="en-US" sz="1050" dirty="0"/>
          </a:p>
        </p:txBody>
      </p:sp>
      <p:pic>
        <p:nvPicPr>
          <p:cNvPr id="21" name="Image 1" descr="preencoded.png">    </p:cNvPr>
          <p:cNvPicPr>
            <a:picLocks noChangeAspect="1"/>
          </p:cNvPicPr>
          <p:nvPr/>
        </p:nvPicPr>
        <p:blipFill>
          <a:blip r:embed="rId2"/>
          <a:stretch>
            <a:fillRect/>
          </a:stretch>
        </p:blipFill>
        <p:spPr>
          <a:xfrm>
            <a:off x="4572000" y="2834640"/>
            <a:ext cx="182880" cy="182880"/>
          </a:xfrm>
          <a:prstGeom prst="rect">
            <a:avLst/>
          </a:prstGeom>
        </p:spPr>
      </p:pic>
      <p:sp>
        <p:nvSpPr>
          <p:cNvPr id="22" name="Shape 18"/>
          <p:cNvSpPr/>
          <p:nvPr/>
        </p:nvSpPr>
        <p:spPr>
          <a:xfrm>
            <a:off x="4754880" y="2331720"/>
            <a:ext cx="1920240" cy="1783080"/>
          </a:xfrm>
          <a:prstGeom prst="rect">
            <a:avLst/>
          </a:prstGeom>
          <a:solidFill>
            <a:srgbClr val="1E2A4A"/>
          </a:solidFill>
          <a:ln/>
          <a:effectLst>
            <a:outerShdw sx="100000" sy="100000" kx="0" ky="0" algn="bl" rotWithShape="0" blurRad="101600" dist="38100" dir="8100000">
              <a:srgbClr val="000000">
                <a:alpha val="30000"/>
              </a:srgbClr>
            </a:outerShdw>
          </a:effectLst>
        </p:spPr>
      </p:sp>
      <p:sp>
        <p:nvSpPr>
          <p:cNvPr id="23" name="Shape 19"/>
          <p:cNvSpPr/>
          <p:nvPr/>
        </p:nvSpPr>
        <p:spPr>
          <a:xfrm>
            <a:off x="4754880" y="2331720"/>
            <a:ext cx="1920240" cy="45720"/>
          </a:xfrm>
          <a:prstGeom prst="rect">
            <a:avLst/>
          </a:prstGeom>
          <a:solidFill>
            <a:srgbClr val="10B981"/>
          </a:solidFill>
          <a:ln/>
        </p:spPr>
      </p:sp>
      <p:sp>
        <p:nvSpPr>
          <p:cNvPr id="24" name="Shape 20"/>
          <p:cNvSpPr/>
          <p:nvPr/>
        </p:nvSpPr>
        <p:spPr>
          <a:xfrm>
            <a:off x="5440680" y="2468880"/>
            <a:ext cx="457200" cy="457200"/>
          </a:xfrm>
          <a:prstGeom prst="ellipse">
            <a:avLst/>
          </a:prstGeom>
          <a:solidFill>
            <a:srgbClr val="10B981"/>
          </a:solidFill>
          <a:ln/>
        </p:spPr>
      </p:sp>
      <p:sp>
        <p:nvSpPr>
          <p:cNvPr id="25" name="Text 21"/>
          <p:cNvSpPr/>
          <p:nvPr/>
        </p:nvSpPr>
        <p:spPr>
          <a:xfrm>
            <a:off x="5440680" y="24688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26" name="Text 22"/>
          <p:cNvSpPr/>
          <p:nvPr/>
        </p:nvSpPr>
        <p:spPr>
          <a:xfrm>
            <a:off x="4846320" y="2971800"/>
            <a:ext cx="173736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Act</a:t>
            </a:r>
            <a:endParaRPr lang="en-US" sz="1400" dirty="0"/>
          </a:p>
        </p:txBody>
      </p:sp>
      <p:sp>
        <p:nvSpPr>
          <p:cNvPr id="27" name="Text 23"/>
          <p:cNvSpPr/>
          <p:nvPr/>
        </p:nvSpPr>
        <p:spPr>
          <a:xfrm>
            <a:off x="4892040" y="3291840"/>
            <a:ext cx="1645920" cy="685800"/>
          </a:xfrm>
          <a:prstGeom prst="rect">
            <a:avLst/>
          </a:prstGeom>
          <a:noFill/>
          <a:ln/>
        </p:spPr>
        <p:txBody>
          <a:bodyPr wrap="square" lIns="0" tIns="0" rIns="0" bIns="0" rtlCol="0" anchor="ctr"/>
          <a:lstStyle/>
          <a:p>
            <a:pPr algn="ctr" indent="0" marL="0">
              <a:lnSpc>
                <a:spcPct val="120000"/>
              </a:lnSpc>
              <a:buNone/>
            </a:pPr>
            <a:r>
              <a:rPr lang="en-US" sz="1050" dirty="0">
                <a:solidFill>
                  <a:srgbClr val="9CA3AF"/>
                </a:solidFill>
                <a:latin typeface="Calibri" pitchFamily="34" charset="0"/>
                <a:ea typeface="Calibri" pitchFamily="34" charset="-122"/>
                <a:cs typeface="Calibri" pitchFamily="34" charset="-120"/>
              </a:rPr>
              <a:t>Light changes — no blockchain delay</a:t>
            </a:r>
            <a:endParaRPr lang="en-US" sz="1050" dirty="0"/>
          </a:p>
        </p:txBody>
      </p:sp>
      <p:pic>
        <p:nvPicPr>
          <p:cNvPr id="28" name="Image 2" descr="preencoded.png">    </p:cNvPr>
          <p:cNvPicPr>
            <a:picLocks noChangeAspect="1"/>
          </p:cNvPicPr>
          <p:nvPr/>
        </p:nvPicPr>
        <p:blipFill>
          <a:blip r:embed="rId3"/>
          <a:stretch>
            <a:fillRect/>
          </a:stretch>
        </p:blipFill>
        <p:spPr>
          <a:xfrm>
            <a:off x="6720840" y="2834640"/>
            <a:ext cx="182880" cy="182880"/>
          </a:xfrm>
          <a:prstGeom prst="rect">
            <a:avLst/>
          </a:prstGeom>
        </p:spPr>
      </p:pic>
      <p:sp>
        <p:nvSpPr>
          <p:cNvPr id="29" name="Shape 24"/>
          <p:cNvSpPr/>
          <p:nvPr/>
        </p:nvSpPr>
        <p:spPr>
          <a:xfrm>
            <a:off x="6903720" y="2331720"/>
            <a:ext cx="1920240" cy="1783080"/>
          </a:xfrm>
          <a:prstGeom prst="rect">
            <a:avLst/>
          </a:prstGeom>
          <a:solidFill>
            <a:srgbClr val="1E2A4A"/>
          </a:solidFill>
          <a:ln/>
          <a:effectLst>
            <a:outerShdw sx="100000" sy="100000" kx="0" ky="0" algn="bl" rotWithShape="0" blurRad="101600" dist="38100" dir="8100000">
              <a:srgbClr val="000000">
                <a:alpha val="30000"/>
              </a:srgbClr>
            </a:outerShdw>
          </a:effectLst>
        </p:spPr>
      </p:sp>
      <p:sp>
        <p:nvSpPr>
          <p:cNvPr id="30" name="Shape 25"/>
          <p:cNvSpPr/>
          <p:nvPr/>
        </p:nvSpPr>
        <p:spPr>
          <a:xfrm>
            <a:off x="6903720" y="2331720"/>
            <a:ext cx="1920240" cy="45720"/>
          </a:xfrm>
          <a:prstGeom prst="rect">
            <a:avLst/>
          </a:prstGeom>
          <a:solidFill>
            <a:srgbClr val="8B5CF6"/>
          </a:solidFill>
          <a:ln/>
        </p:spPr>
      </p:sp>
      <p:sp>
        <p:nvSpPr>
          <p:cNvPr id="31" name="Shape 26"/>
          <p:cNvSpPr/>
          <p:nvPr/>
        </p:nvSpPr>
        <p:spPr>
          <a:xfrm>
            <a:off x="7589520" y="2468880"/>
            <a:ext cx="457200" cy="457200"/>
          </a:xfrm>
          <a:prstGeom prst="ellipse">
            <a:avLst/>
          </a:prstGeom>
          <a:solidFill>
            <a:srgbClr val="8B5CF6"/>
          </a:solidFill>
          <a:ln/>
        </p:spPr>
      </p:sp>
      <p:sp>
        <p:nvSpPr>
          <p:cNvPr id="32" name="Text 27"/>
          <p:cNvSpPr/>
          <p:nvPr/>
        </p:nvSpPr>
        <p:spPr>
          <a:xfrm>
            <a:off x="7589520" y="24688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4</a:t>
            </a:r>
            <a:endParaRPr lang="en-US" sz="1800" dirty="0"/>
          </a:p>
        </p:txBody>
      </p:sp>
      <p:sp>
        <p:nvSpPr>
          <p:cNvPr id="33" name="Text 28"/>
          <p:cNvSpPr/>
          <p:nvPr/>
        </p:nvSpPr>
        <p:spPr>
          <a:xfrm>
            <a:off x="6995160" y="2971800"/>
            <a:ext cx="173736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Audit</a:t>
            </a:r>
            <a:endParaRPr lang="en-US" sz="1400" dirty="0"/>
          </a:p>
        </p:txBody>
      </p:sp>
      <p:sp>
        <p:nvSpPr>
          <p:cNvPr id="34" name="Text 29"/>
          <p:cNvSpPr/>
          <p:nvPr/>
        </p:nvSpPr>
        <p:spPr>
          <a:xfrm>
            <a:off x="7040880" y="3291840"/>
            <a:ext cx="1645920" cy="685800"/>
          </a:xfrm>
          <a:prstGeom prst="rect">
            <a:avLst/>
          </a:prstGeom>
          <a:noFill/>
          <a:ln/>
        </p:spPr>
        <p:txBody>
          <a:bodyPr wrap="square" lIns="0" tIns="0" rIns="0" bIns="0" rtlCol="0" anchor="ctr"/>
          <a:lstStyle/>
          <a:p>
            <a:pPr algn="ctr" indent="0" marL="0">
              <a:lnSpc>
                <a:spcPct val="120000"/>
              </a:lnSpc>
              <a:buNone/>
            </a:pPr>
            <a:r>
              <a:rPr lang="en-US" sz="1050" dirty="0">
                <a:solidFill>
                  <a:srgbClr val="9CA3AF"/>
                </a:solidFill>
                <a:latin typeface="Calibri" pitchFamily="34" charset="0"/>
                <a:ea typeface="Calibri" pitchFamily="34" charset="-122"/>
                <a:cs typeface="Calibri" pitchFamily="34" charset="-120"/>
              </a:rPr>
              <a:t>Decision proof anchored to ledger</a:t>
            </a:r>
            <a:endParaRPr lang="en-US" sz="1050" dirty="0"/>
          </a:p>
        </p:txBody>
      </p:sp>
      <p:sp>
        <p:nvSpPr>
          <p:cNvPr id="35" name="Shape 30"/>
          <p:cNvSpPr/>
          <p:nvPr/>
        </p:nvSpPr>
        <p:spPr>
          <a:xfrm>
            <a:off x="457200" y="4343400"/>
            <a:ext cx="8229600" cy="594360"/>
          </a:xfrm>
          <a:prstGeom prst="rect">
            <a:avLst/>
          </a:prstGeom>
          <a:solidFill>
            <a:srgbClr val="243353"/>
          </a:solidFill>
          <a:ln/>
          <a:effectLst>
            <a:outerShdw sx="100000" sy="100000" kx="0" ky="0" algn="bl" rotWithShape="0" blurRad="101600" dist="38100" dir="8100000">
              <a:srgbClr val="000000">
                <a:alpha val="30000"/>
              </a:srgbClr>
            </a:outerShdw>
          </a:effectLst>
        </p:spPr>
      </p:sp>
      <p:sp>
        <p:nvSpPr>
          <p:cNvPr id="36" name="Shape 31"/>
          <p:cNvSpPr/>
          <p:nvPr/>
        </p:nvSpPr>
        <p:spPr>
          <a:xfrm>
            <a:off x="457200" y="4343400"/>
            <a:ext cx="73152" cy="594360"/>
          </a:xfrm>
          <a:prstGeom prst="rect">
            <a:avLst/>
          </a:prstGeom>
          <a:solidFill>
            <a:srgbClr val="E8A838"/>
          </a:solidFill>
          <a:ln/>
        </p:spPr>
      </p:sp>
      <p:sp>
        <p:nvSpPr>
          <p:cNvPr id="37" name="Text 32"/>
          <p:cNvSpPr/>
          <p:nvPr/>
        </p:nvSpPr>
        <p:spPr>
          <a:xfrm>
            <a:off x="777240" y="4343400"/>
            <a:ext cx="7680960" cy="594360"/>
          </a:xfrm>
          <a:prstGeom prst="rect">
            <a:avLst/>
          </a:prstGeom>
          <a:noFill/>
          <a:ln/>
        </p:spPr>
        <p:txBody>
          <a:bodyPr wrap="square" lIns="0" tIns="0" rIns="0" bIns="0" rtlCol="0" anchor="ctr"/>
          <a:lstStyle/>
          <a:p>
            <a:pPr indent="0" marL="0">
              <a:buNone/>
            </a:pPr>
            <a:r>
              <a:rPr lang="en-US" sz="1150" b="1" dirty="0">
                <a:solidFill>
                  <a:srgbClr val="E8A838"/>
                </a:solidFill>
                <a:latin typeface="Calibri" pitchFamily="34" charset="0"/>
                <a:ea typeface="Calibri" pitchFamily="34" charset="-122"/>
                <a:cs typeface="Calibri" pitchFamily="34" charset="-120"/>
              </a:rPr>
              <a:t>Use Case: </a:t>
            </a:r>
            <a:pPr indent="0" marL="0">
              <a:buNone/>
            </a:pPr>
            <a:r>
              <a:rPr lang="en-US" sz="1150" dirty="0">
                <a:solidFill>
                  <a:srgbClr val="E8E8E8"/>
                </a:solidFill>
                <a:latin typeface="Calibri" pitchFamily="34" charset="0"/>
                <a:ea typeface="Calibri" pitchFamily="34" charset="-122"/>
                <a:cs typeface="Calibri" pitchFamily="34" charset="-120"/>
              </a:rPr>
              <a:t>An ambulance broadcasts urgency 5. The intersection AI reasons: "Emergency (5) &gt; commuter traffic (1)" — switches green in 60ms. The reasoning trace is then signed and logged immutably for post-incident audit.</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A838"/>
          </a:solidFill>
          <a:ln/>
        </p:spPr>
      </p:sp>
      <p:sp>
        <p:nvSpPr>
          <p:cNvPr id="3" name="Text 1"/>
          <p:cNvSpPr/>
          <p:nvPr/>
        </p:nvSpPr>
        <p:spPr>
          <a:xfrm>
            <a:off x="640080" y="274320"/>
            <a:ext cx="1828800" cy="274320"/>
          </a:xfrm>
          <a:prstGeom prst="rect">
            <a:avLst/>
          </a:prstGeom>
          <a:noFill/>
          <a:ln/>
        </p:spPr>
        <p:txBody>
          <a:bodyPr wrap="square" lIns="0" tIns="0" rIns="0" bIns="0" rtlCol="0" anchor="ctr"/>
          <a:lstStyle/>
          <a:p>
            <a:pPr indent="0" marL="0">
              <a:buNone/>
            </a:pPr>
            <a:r>
              <a:rPr lang="en-US" sz="1100" b="1" spc="400" kern="0" dirty="0">
                <a:solidFill>
                  <a:srgbClr val="E8A838"/>
                </a:solidFill>
                <a:latin typeface="Calibri" pitchFamily="34" charset="0"/>
                <a:ea typeface="Calibri" pitchFamily="34" charset="-122"/>
                <a:cs typeface="Calibri" pitchFamily="34" charset="-120"/>
              </a:rPr>
              <a:t>PART 2</a:t>
            </a:r>
            <a:endParaRPr lang="en-US" sz="1100" dirty="0"/>
          </a:p>
        </p:txBody>
      </p:sp>
      <p:sp>
        <p:nvSpPr>
          <p:cNvPr id="4" name="Text 2"/>
          <p:cNvSpPr/>
          <p:nvPr/>
        </p:nvSpPr>
        <p:spPr>
          <a:xfrm>
            <a:off x="640080" y="502920"/>
            <a:ext cx="7315200" cy="548640"/>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Code of Conduct</a:t>
            </a:r>
            <a:endParaRPr lang="en-US" sz="3000" dirty="0"/>
          </a:p>
        </p:txBody>
      </p:sp>
      <p:sp>
        <p:nvSpPr>
          <p:cNvPr id="5" name="Shape 3"/>
          <p:cNvSpPr/>
          <p:nvPr/>
        </p:nvSpPr>
        <p:spPr>
          <a:xfrm>
            <a:off x="640080" y="1234440"/>
            <a:ext cx="7863840" cy="457200"/>
          </a:xfrm>
          <a:prstGeom prst="rect">
            <a:avLst/>
          </a:prstGeom>
          <a:solidFill>
            <a:srgbClr val="1E2A4A"/>
          </a:solidFill>
          <a:ln/>
        </p:spPr>
      </p:sp>
      <p:sp>
        <p:nvSpPr>
          <p:cNvPr id="6" name="Shape 4"/>
          <p:cNvSpPr/>
          <p:nvPr/>
        </p:nvSpPr>
        <p:spPr>
          <a:xfrm>
            <a:off x="640080" y="1234440"/>
            <a:ext cx="54864" cy="457200"/>
          </a:xfrm>
          <a:prstGeom prst="rect">
            <a:avLst/>
          </a:prstGeom>
          <a:solidFill>
            <a:srgbClr val="E8A838"/>
          </a:solidFill>
          <a:ln/>
        </p:spPr>
      </p:sp>
      <p:sp>
        <p:nvSpPr>
          <p:cNvPr id="7" name="Shape 5"/>
          <p:cNvSpPr/>
          <p:nvPr/>
        </p:nvSpPr>
        <p:spPr>
          <a:xfrm>
            <a:off x="868680" y="1298448"/>
            <a:ext cx="329184" cy="329184"/>
          </a:xfrm>
          <a:prstGeom prst="ellipse">
            <a:avLst/>
          </a:prstGeom>
          <a:solidFill>
            <a:srgbClr val="E8A838"/>
          </a:solidFill>
          <a:ln/>
        </p:spPr>
      </p:sp>
      <p:sp>
        <p:nvSpPr>
          <p:cNvPr id="8" name="Text 6"/>
          <p:cNvSpPr/>
          <p:nvPr/>
        </p:nvSpPr>
        <p:spPr>
          <a:xfrm>
            <a:off x="868680" y="129844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1</a:t>
            </a:r>
            <a:endParaRPr lang="en-US" sz="1200" dirty="0"/>
          </a:p>
        </p:txBody>
      </p:sp>
      <p:sp>
        <p:nvSpPr>
          <p:cNvPr id="9" name="Text 7"/>
          <p:cNvSpPr/>
          <p:nvPr/>
        </p:nvSpPr>
        <p:spPr>
          <a:xfrm>
            <a:off x="1371600" y="1234440"/>
            <a:ext cx="2560320" cy="457200"/>
          </a:xfrm>
          <a:prstGeom prst="rect">
            <a:avLst/>
          </a:prstGeom>
          <a:noFill/>
          <a:ln/>
        </p:spPr>
        <p:txBody>
          <a:bodyPr wrap="square" lIns="0" tIns="0" rIns="0" bIns="0" rtlCol="0" anchor="ctr"/>
          <a:lstStyle/>
          <a:p>
            <a:pPr indent="0" marL="0">
              <a:buNone/>
            </a:pPr>
            <a:r>
              <a:rPr lang="en-US" sz="1250" b="1" dirty="0">
                <a:solidFill>
                  <a:srgbClr val="E8A838"/>
                </a:solidFill>
                <a:latin typeface="Georgia" pitchFamily="34" charset="0"/>
                <a:ea typeface="Georgia" pitchFamily="34" charset="-122"/>
                <a:cs typeface="Georgia" pitchFamily="34" charset="-120"/>
              </a:rPr>
              <a:t>Algorithmic Transparency &amp; Auditability</a:t>
            </a:r>
            <a:endParaRPr lang="en-US" sz="1250" dirty="0"/>
          </a:p>
        </p:txBody>
      </p:sp>
      <p:sp>
        <p:nvSpPr>
          <p:cNvPr id="10" name="Text 8"/>
          <p:cNvSpPr/>
          <p:nvPr/>
        </p:nvSpPr>
        <p:spPr>
          <a:xfrm>
            <a:off x="4023360" y="1234440"/>
            <a:ext cx="4297680" cy="457200"/>
          </a:xfrm>
          <a:prstGeom prst="rect">
            <a:avLst/>
          </a:prstGeom>
          <a:noFill/>
          <a:ln/>
        </p:spPr>
        <p:txBody>
          <a:bodyPr wrap="square" lIns="0" tIns="0" rIns="0" bIns="0" rtlCol="0" anchor="ctr"/>
          <a:lstStyle/>
          <a:p>
            <a:pPr indent="0" marL="0">
              <a:buNone/>
            </a:pPr>
            <a:r>
              <a:rPr lang="en-US" sz="1050" dirty="0">
                <a:solidFill>
                  <a:srgbClr val="E8E8E8"/>
                </a:solidFill>
                <a:latin typeface="Calibri" pitchFamily="34" charset="0"/>
                <a:ea typeface="Calibri" pitchFamily="34" charset="-122"/>
                <a:cs typeface="Calibri" pitchFamily="34" charset="-120"/>
              </a:rPr>
              <a:t>Every AI decision must produce a human-readable reasoning trace, stored immutably on the blockchain.</a:t>
            </a:r>
            <a:endParaRPr lang="en-US" sz="1050" dirty="0"/>
          </a:p>
        </p:txBody>
      </p:sp>
      <p:sp>
        <p:nvSpPr>
          <p:cNvPr id="11" name="Shape 9"/>
          <p:cNvSpPr/>
          <p:nvPr/>
        </p:nvSpPr>
        <p:spPr>
          <a:xfrm>
            <a:off x="640080" y="1764792"/>
            <a:ext cx="7863840" cy="457200"/>
          </a:xfrm>
          <a:prstGeom prst="rect">
            <a:avLst/>
          </a:prstGeom>
          <a:solidFill>
            <a:srgbClr val="243353"/>
          </a:solidFill>
          <a:ln/>
        </p:spPr>
      </p:sp>
      <p:sp>
        <p:nvSpPr>
          <p:cNvPr id="12" name="Shape 10"/>
          <p:cNvSpPr/>
          <p:nvPr/>
        </p:nvSpPr>
        <p:spPr>
          <a:xfrm>
            <a:off x="640080" y="1764792"/>
            <a:ext cx="54864" cy="457200"/>
          </a:xfrm>
          <a:prstGeom prst="rect">
            <a:avLst/>
          </a:prstGeom>
          <a:solidFill>
            <a:srgbClr val="3B82F6"/>
          </a:solidFill>
          <a:ln/>
        </p:spPr>
      </p:sp>
      <p:sp>
        <p:nvSpPr>
          <p:cNvPr id="13" name="Shape 11"/>
          <p:cNvSpPr/>
          <p:nvPr/>
        </p:nvSpPr>
        <p:spPr>
          <a:xfrm>
            <a:off x="868680" y="1828800"/>
            <a:ext cx="329184" cy="329184"/>
          </a:xfrm>
          <a:prstGeom prst="ellipse">
            <a:avLst/>
          </a:prstGeom>
          <a:solidFill>
            <a:srgbClr val="3B82F6"/>
          </a:solidFill>
          <a:ln/>
        </p:spPr>
      </p:sp>
      <p:sp>
        <p:nvSpPr>
          <p:cNvPr id="14" name="Text 12"/>
          <p:cNvSpPr/>
          <p:nvPr/>
        </p:nvSpPr>
        <p:spPr>
          <a:xfrm>
            <a:off x="868680" y="18288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2</a:t>
            </a:r>
            <a:endParaRPr lang="en-US" sz="1200" dirty="0"/>
          </a:p>
        </p:txBody>
      </p:sp>
      <p:sp>
        <p:nvSpPr>
          <p:cNvPr id="15" name="Text 13"/>
          <p:cNvSpPr/>
          <p:nvPr/>
        </p:nvSpPr>
        <p:spPr>
          <a:xfrm>
            <a:off x="1371600" y="1764792"/>
            <a:ext cx="2560320" cy="457200"/>
          </a:xfrm>
          <a:prstGeom prst="rect">
            <a:avLst/>
          </a:prstGeom>
          <a:noFill/>
          <a:ln/>
        </p:spPr>
        <p:txBody>
          <a:bodyPr wrap="square" lIns="0" tIns="0" rIns="0" bIns="0" rtlCol="0" anchor="ctr"/>
          <a:lstStyle/>
          <a:p>
            <a:pPr indent="0" marL="0">
              <a:buNone/>
            </a:pPr>
            <a:r>
              <a:rPr lang="en-US" sz="1250" b="1" dirty="0">
                <a:solidFill>
                  <a:srgbClr val="3B82F6"/>
                </a:solidFill>
                <a:latin typeface="Georgia" pitchFamily="34" charset="0"/>
                <a:ea typeface="Georgia" pitchFamily="34" charset="-122"/>
                <a:cs typeface="Georgia" pitchFamily="34" charset="-120"/>
              </a:rPr>
              <a:t>Fail-Safe Manual Override</a:t>
            </a:r>
            <a:endParaRPr lang="en-US" sz="1250" dirty="0"/>
          </a:p>
        </p:txBody>
      </p:sp>
      <p:sp>
        <p:nvSpPr>
          <p:cNvPr id="16" name="Text 14"/>
          <p:cNvSpPr/>
          <p:nvPr/>
        </p:nvSpPr>
        <p:spPr>
          <a:xfrm>
            <a:off x="4023360" y="1764792"/>
            <a:ext cx="4297680" cy="457200"/>
          </a:xfrm>
          <a:prstGeom prst="rect">
            <a:avLst/>
          </a:prstGeom>
          <a:noFill/>
          <a:ln/>
        </p:spPr>
        <p:txBody>
          <a:bodyPr wrap="square" lIns="0" tIns="0" rIns="0" bIns="0" rtlCol="0" anchor="ctr"/>
          <a:lstStyle/>
          <a:p>
            <a:pPr indent="0" marL="0">
              <a:buNone/>
            </a:pPr>
            <a:r>
              <a:rPr lang="en-US" sz="1050" dirty="0">
                <a:solidFill>
                  <a:srgbClr val="E8E8E8"/>
                </a:solidFill>
                <a:latin typeface="Calibri" pitchFamily="34" charset="0"/>
                <a:ea typeface="Calibri" pitchFamily="34" charset="-122"/>
                <a:cs typeface="Calibri" pitchFamily="34" charset="-120"/>
              </a:rPr>
              <a:t>A deterministic safety layer overrides the AI if sensor data conflicts with its command. Humans can always intervene.</a:t>
            </a:r>
            <a:endParaRPr lang="en-US" sz="1050" dirty="0"/>
          </a:p>
        </p:txBody>
      </p:sp>
      <p:sp>
        <p:nvSpPr>
          <p:cNvPr id="17" name="Shape 15"/>
          <p:cNvSpPr/>
          <p:nvPr/>
        </p:nvSpPr>
        <p:spPr>
          <a:xfrm>
            <a:off x="640080" y="2295144"/>
            <a:ext cx="7863840" cy="457200"/>
          </a:xfrm>
          <a:prstGeom prst="rect">
            <a:avLst/>
          </a:prstGeom>
          <a:solidFill>
            <a:srgbClr val="1E2A4A"/>
          </a:solidFill>
          <a:ln/>
        </p:spPr>
      </p:sp>
      <p:sp>
        <p:nvSpPr>
          <p:cNvPr id="18" name="Shape 16"/>
          <p:cNvSpPr/>
          <p:nvPr/>
        </p:nvSpPr>
        <p:spPr>
          <a:xfrm>
            <a:off x="640080" y="2295144"/>
            <a:ext cx="54864" cy="457200"/>
          </a:xfrm>
          <a:prstGeom prst="rect">
            <a:avLst/>
          </a:prstGeom>
          <a:solidFill>
            <a:srgbClr val="10B981"/>
          </a:solidFill>
          <a:ln/>
        </p:spPr>
      </p:sp>
      <p:sp>
        <p:nvSpPr>
          <p:cNvPr id="19" name="Shape 17"/>
          <p:cNvSpPr/>
          <p:nvPr/>
        </p:nvSpPr>
        <p:spPr>
          <a:xfrm>
            <a:off x="868680" y="2359152"/>
            <a:ext cx="329184" cy="329184"/>
          </a:xfrm>
          <a:prstGeom prst="ellipse">
            <a:avLst/>
          </a:prstGeom>
          <a:solidFill>
            <a:srgbClr val="10B981"/>
          </a:solidFill>
          <a:ln/>
        </p:spPr>
      </p:sp>
      <p:sp>
        <p:nvSpPr>
          <p:cNvPr id="20" name="Text 18"/>
          <p:cNvSpPr/>
          <p:nvPr/>
        </p:nvSpPr>
        <p:spPr>
          <a:xfrm>
            <a:off x="868680" y="235915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3</a:t>
            </a:r>
            <a:endParaRPr lang="en-US" sz="1200" dirty="0"/>
          </a:p>
        </p:txBody>
      </p:sp>
      <p:sp>
        <p:nvSpPr>
          <p:cNvPr id="21" name="Text 19"/>
          <p:cNvSpPr/>
          <p:nvPr/>
        </p:nvSpPr>
        <p:spPr>
          <a:xfrm>
            <a:off x="1371600" y="2295144"/>
            <a:ext cx="2560320" cy="457200"/>
          </a:xfrm>
          <a:prstGeom prst="rect">
            <a:avLst/>
          </a:prstGeom>
          <a:noFill/>
          <a:ln/>
        </p:spPr>
        <p:txBody>
          <a:bodyPr wrap="square" lIns="0" tIns="0" rIns="0" bIns="0" rtlCol="0" anchor="ctr"/>
          <a:lstStyle/>
          <a:p>
            <a:pPr indent="0" marL="0">
              <a:buNone/>
            </a:pPr>
            <a:r>
              <a:rPr lang="en-US" sz="1250" b="1" dirty="0">
                <a:solidFill>
                  <a:srgbClr val="10B981"/>
                </a:solidFill>
                <a:latin typeface="Georgia" pitchFamily="34" charset="0"/>
                <a:ea typeface="Georgia" pitchFamily="34" charset="-122"/>
                <a:cs typeface="Georgia" pitchFamily="34" charset="-120"/>
              </a:rPr>
              <a:t>Data Sovereignty &amp; Edge-First Processing</a:t>
            </a:r>
            <a:endParaRPr lang="en-US" sz="1250" dirty="0"/>
          </a:p>
        </p:txBody>
      </p:sp>
      <p:sp>
        <p:nvSpPr>
          <p:cNvPr id="22" name="Text 20"/>
          <p:cNvSpPr/>
          <p:nvPr/>
        </p:nvSpPr>
        <p:spPr>
          <a:xfrm>
            <a:off x="4023360" y="2295144"/>
            <a:ext cx="4297680" cy="457200"/>
          </a:xfrm>
          <a:prstGeom prst="rect">
            <a:avLst/>
          </a:prstGeom>
          <a:noFill/>
          <a:ln/>
        </p:spPr>
        <p:txBody>
          <a:bodyPr wrap="square" lIns="0" tIns="0" rIns="0" bIns="0" rtlCol="0" anchor="ctr"/>
          <a:lstStyle/>
          <a:p>
            <a:pPr indent="0" marL="0">
              <a:buNone/>
            </a:pPr>
            <a:r>
              <a:rPr lang="en-US" sz="1050" dirty="0">
                <a:solidFill>
                  <a:srgbClr val="E8E8E8"/>
                </a:solidFill>
                <a:latin typeface="Calibri" pitchFamily="34" charset="0"/>
                <a:ea typeface="Calibri" pitchFamily="34" charset="-122"/>
                <a:cs typeface="Calibri" pitchFamily="34" charset="-120"/>
              </a:rPr>
              <a:t>All sensor data is processed locally on edge hardware. Only hashed decision proofs leave the device — never raw data.</a:t>
            </a:r>
            <a:endParaRPr lang="en-US" sz="1050" dirty="0"/>
          </a:p>
        </p:txBody>
      </p:sp>
      <p:sp>
        <p:nvSpPr>
          <p:cNvPr id="23" name="Shape 21"/>
          <p:cNvSpPr/>
          <p:nvPr/>
        </p:nvSpPr>
        <p:spPr>
          <a:xfrm>
            <a:off x="640080" y="2825496"/>
            <a:ext cx="7863840" cy="457200"/>
          </a:xfrm>
          <a:prstGeom prst="rect">
            <a:avLst/>
          </a:prstGeom>
          <a:solidFill>
            <a:srgbClr val="243353"/>
          </a:solidFill>
          <a:ln/>
        </p:spPr>
      </p:sp>
      <p:sp>
        <p:nvSpPr>
          <p:cNvPr id="24" name="Shape 22"/>
          <p:cNvSpPr/>
          <p:nvPr/>
        </p:nvSpPr>
        <p:spPr>
          <a:xfrm>
            <a:off x="640080" y="2825496"/>
            <a:ext cx="54864" cy="457200"/>
          </a:xfrm>
          <a:prstGeom prst="rect">
            <a:avLst/>
          </a:prstGeom>
          <a:solidFill>
            <a:srgbClr val="8B5CF6"/>
          </a:solidFill>
          <a:ln/>
        </p:spPr>
      </p:sp>
      <p:sp>
        <p:nvSpPr>
          <p:cNvPr id="25" name="Shape 23"/>
          <p:cNvSpPr/>
          <p:nvPr/>
        </p:nvSpPr>
        <p:spPr>
          <a:xfrm>
            <a:off x="868680" y="2889504"/>
            <a:ext cx="329184" cy="329184"/>
          </a:xfrm>
          <a:prstGeom prst="ellipse">
            <a:avLst/>
          </a:prstGeom>
          <a:solidFill>
            <a:srgbClr val="8B5CF6"/>
          </a:solidFill>
          <a:ln/>
        </p:spPr>
      </p:sp>
      <p:sp>
        <p:nvSpPr>
          <p:cNvPr id="26" name="Text 24"/>
          <p:cNvSpPr/>
          <p:nvPr/>
        </p:nvSpPr>
        <p:spPr>
          <a:xfrm>
            <a:off x="868680" y="288950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4</a:t>
            </a:r>
            <a:endParaRPr lang="en-US" sz="1200" dirty="0"/>
          </a:p>
        </p:txBody>
      </p:sp>
      <p:sp>
        <p:nvSpPr>
          <p:cNvPr id="27" name="Text 25"/>
          <p:cNvSpPr/>
          <p:nvPr/>
        </p:nvSpPr>
        <p:spPr>
          <a:xfrm>
            <a:off x="1371600" y="2825496"/>
            <a:ext cx="2560320" cy="457200"/>
          </a:xfrm>
          <a:prstGeom prst="rect">
            <a:avLst/>
          </a:prstGeom>
          <a:noFill/>
          <a:ln/>
        </p:spPr>
        <p:txBody>
          <a:bodyPr wrap="square" lIns="0" tIns="0" rIns="0" bIns="0" rtlCol="0" anchor="ctr"/>
          <a:lstStyle/>
          <a:p>
            <a:pPr indent="0" marL="0">
              <a:buNone/>
            </a:pPr>
            <a:r>
              <a:rPr lang="en-US" sz="1250" b="1" dirty="0">
                <a:solidFill>
                  <a:srgbClr val="8B5CF6"/>
                </a:solidFill>
                <a:latin typeface="Georgia" pitchFamily="34" charset="0"/>
                <a:ea typeface="Georgia" pitchFamily="34" charset="-122"/>
                <a:cs typeface="Georgia" pitchFamily="34" charset="-120"/>
              </a:rPr>
              <a:t>Equitable Service Provision</a:t>
            </a:r>
            <a:endParaRPr lang="en-US" sz="1250" dirty="0"/>
          </a:p>
        </p:txBody>
      </p:sp>
      <p:sp>
        <p:nvSpPr>
          <p:cNvPr id="28" name="Text 26"/>
          <p:cNvSpPr/>
          <p:nvPr/>
        </p:nvSpPr>
        <p:spPr>
          <a:xfrm>
            <a:off x="4023360" y="2825496"/>
            <a:ext cx="4297680" cy="457200"/>
          </a:xfrm>
          <a:prstGeom prst="rect">
            <a:avLst/>
          </a:prstGeom>
          <a:noFill/>
          <a:ln/>
        </p:spPr>
        <p:txBody>
          <a:bodyPr wrap="square" lIns="0" tIns="0" rIns="0" bIns="0" rtlCol="0" anchor="ctr"/>
          <a:lstStyle/>
          <a:p>
            <a:pPr indent="0" marL="0">
              <a:buNone/>
            </a:pPr>
            <a:r>
              <a:rPr lang="en-US" sz="1050" dirty="0">
                <a:solidFill>
                  <a:srgbClr val="E8E8E8"/>
                </a:solidFill>
                <a:latin typeface="Calibri" pitchFamily="34" charset="0"/>
                <a:ea typeface="Calibri" pitchFamily="34" charset="-122"/>
                <a:cs typeface="Calibri" pitchFamily="34" charset="-120"/>
              </a:rPr>
              <a:t>Priority is based on urgency, not geography or wealth. The algorithm must not systematically disadvantage any group.</a:t>
            </a:r>
            <a:endParaRPr lang="en-US" sz="1050" dirty="0"/>
          </a:p>
        </p:txBody>
      </p:sp>
      <p:sp>
        <p:nvSpPr>
          <p:cNvPr id="29" name="Shape 27"/>
          <p:cNvSpPr/>
          <p:nvPr/>
        </p:nvSpPr>
        <p:spPr>
          <a:xfrm>
            <a:off x="640080" y="3355848"/>
            <a:ext cx="7863840" cy="457200"/>
          </a:xfrm>
          <a:prstGeom prst="rect">
            <a:avLst/>
          </a:prstGeom>
          <a:solidFill>
            <a:srgbClr val="1E2A4A"/>
          </a:solidFill>
          <a:ln/>
        </p:spPr>
      </p:sp>
      <p:sp>
        <p:nvSpPr>
          <p:cNvPr id="30" name="Shape 28"/>
          <p:cNvSpPr/>
          <p:nvPr/>
        </p:nvSpPr>
        <p:spPr>
          <a:xfrm>
            <a:off x="640080" y="3355848"/>
            <a:ext cx="54864" cy="457200"/>
          </a:xfrm>
          <a:prstGeom prst="rect">
            <a:avLst/>
          </a:prstGeom>
          <a:solidFill>
            <a:srgbClr val="EF4444"/>
          </a:solidFill>
          <a:ln/>
        </p:spPr>
      </p:sp>
      <p:sp>
        <p:nvSpPr>
          <p:cNvPr id="31" name="Shape 29"/>
          <p:cNvSpPr/>
          <p:nvPr/>
        </p:nvSpPr>
        <p:spPr>
          <a:xfrm>
            <a:off x="868680" y="3419856"/>
            <a:ext cx="329184" cy="329184"/>
          </a:xfrm>
          <a:prstGeom prst="ellipse">
            <a:avLst/>
          </a:prstGeom>
          <a:solidFill>
            <a:srgbClr val="EF4444"/>
          </a:solidFill>
          <a:ln/>
        </p:spPr>
      </p:sp>
      <p:sp>
        <p:nvSpPr>
          <p:cNvPr id="32" name="Text 30"/>
          <p:cNvSpPr/>
          <p:nvPr/>
        </p:nvSpPr>
        <p:spPr>
          <a:xfrm>
            <a:off x="868680" y="341985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5</a:t>
            </a:r>
            <a:endParaRPr lang="en-US" sz="1200" dirty="0"/>
          </a:p>
        </p:txBody>
      </p:sp>
      <p:sp>
        <p:nvSpPr>
          <p:cNvPr id="33" name="Text 31"/>
          <p:cNvSpPr/>
          <p:nvPr/>
        </p:nvSpPr>
        <p:spPr>
          <a:xfrm>
            <a:off x="1371600" y="3355848"/>
            <a:ext cx="2560320" cy="457200"/>
          </a:xfrm>
          <a:prstGeom prst="rect">
            <a:avLst/>
          </a:prstGeom>
          <a:noFill/>
          <a:ln/>
        </p:spPr>
        <p:txBody>
          <a:bodyPr wrap="square" lIns="0" tIns="0" rIns="0" bIns="0" rtlCol="0" anchor="ctr"/>
          <a:lstStyle/>
          <a:p>
            <a:pPr indent="0" marL="0">
              <a:buNone/>
            </a:pPr>
            <a:r>
              <a:rPr lang="en-US" sz="1250" b="1" dirty="0">
                <a:solidFill>
                  <a:srgbClr val="EF4444"/>
                </a:solidFill>
                <a:latin typeface="Georgia" pitchFamily="34" charset="0"/>
                <a:ea typeface="Georgia" pitchFamily="34" charset="-122"/>
                <a:cs typeface="Georgia" pitchFamily="34" charset="-120"/>
              </a:rPr>
              <a:t>Adversarial Robustness</a:t>
            </a:r>
            <a:endParaRPr lang="en-US" sz="1250" dirty="0"/>
          </a:p>
        </p:txBody>
      </p:sp>
      <p:sp>
        <p:nvSpPr>
          <p:cNvPr id="34" name="Text 32"/>
          <p:cNvSpPr/>
          <p:nvPr/>
        </p:nvSpPr>
        <p:spPr>
          <a:xfrm>
            <a:off x="4023360" y="3355848"/>
            <a:ext cx="4297680" cy="457200"/>
          </a:xfrm>
          <a:prstGeom prst="rect">
            <a:avLst/>
          </a:prstGeom>
          <a:noFill/>
          <a:ln/>
        </p:spPr>
        <p:txBody>
          <a:bodyPr wrap="square" lIns="0" tIns="0" rIns="0" bIns="0" rtlCol="0" anchor="ctr"/>
          <a:lstStyle/>
          <a:p>
            <a:pPr indent="0" marL="0">
              <a:buNone/>
            </a:pPr>
            <a:r>
              <a:rPr lang="en-US" sz="1050" dirty="0">
                <a:solidFill>
                  <a:srgbClr val="E8E8E8"/>
                </a:solidFill>
                <a:latin typeface="Calibri" pitchFamily="34" charset="0"/>
                <a:ea typeface="Calibri" pitchFamily="34" charset="-122"/>
                <a:cs typeface="Calibri" pitchFamily="34" charset="-120"/>
              </a:rPr>
              <a:t>The system must resist spoofed signals, adversarial vision attacks ("ghost cars"), and attempts to game the protocol.</a:t>
            </a:r>
            <a:endParaRPr lang="en-US" sz="1050" dirty="0"/>
          </a:p>
        </p:txBody>
      </p:sp>
      <p:sp>
        <p:nvSpPr>
          <p:cNvPr id="35" name="Shape 33"/>
          <p:cNvSpPr/>
          <p:nvPr/>
        </p:nvSpPr>
        <p:spPr>
          <a:xfrm>
            <a:off x="640080" y="3886200"/>
            <a:ext cx="7863840" cy="457200"/>
          </a:xfrm>
          <a:prstGeom prst="rect">
            <a:avLst/>
          </a:prstGeom>
          <a:solidFill>
            <a:srgbClr val="243353"/>
          </a:solidFill>
          <a:ln/>
        </p:spPr>
      </p:sp>
      <p:sp>
        <p:nvSpPr>
          <p:cNvPr id="36" name="Shape 34"/>
          <p:cNvSpPr/>
          <p:nvPr/>
        </p:nvSpPr>
        <p:spPr>
          <a:xfrm>
            <a:off x="640080" y="3886200"/>
            <a:ext cx="54864" cy="457200"/>
          </a:xfrm>
          <a:prstGeom prst="rect">
            <a:avLst/>
          </a:prstGeom>
          <a:solidFill>
            <a:srgbClr val="06B6D4"/>
          </a:solidFill>
          <a:ln/>
        </p:spPr>
      </p:sp>
      <p:sp>
        <p:nvSpPr>
          <p:cNvPr id="37" name="Shape 35"/>
          <p:cNvSpPr/>
          <p:nvPr/>
        </p:nvSpPr>
        <p:spPr>
          <a:xfrm>
            <a:off x="868680" y="3950208"/>
            <a:ext cx="329184" cy="329184"/>
          </a:xfrm>
          <a:prstGeom prst="ellipse">
            <a:avLst/>
          </a:prstGeom>
          <a:solidFill>
            <a:srgbClr val="06B6D4"/>
          </a:solidFill>
          <a:ln/>
        </p:spPr>
      </p:sp>
      <p:sp>
        <p:nvSpPr>
          <p:cNvPr id="38" name="Text 36"/>
          <p:cNvSpPr/>
          <p:nvPr/>
        </p:nvSpPr>
        <p:spPr>
          <a:xfrm>
            <a:off x="868680" y="39502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6</a:t>
            </a:r>
            <a:endParaRPr lang="en-US" sz="1200" dirty="0"/>
          </a:p>
        </p:txBody>
      </p:sp>
      <p:sp>
        <p:nvSpPr>
          <p:cNvPr id="39" name="Text 37"/>
          <p:cNvSpPr/>
          <p:nvPr/>
        </p:nvSpPr>
        <p:spPr>
          <a:xfrm>
            <a:off x="1371600" y="3886200"/>
            <a:ext cx="2560320" cy="457200"/>
          </a:xfrm>
          <a:prstGeom prst="rect">
            <a:avLst/>
          </a:prstGeom>
          <a:noFill/>
          <a:ln/>
        </p:spPr>
        <p:txBody>
          <a:bodyPr wrap="square" lIns="0" tIns="0" rIns="0" bIns="0" rtlCol="0" anchor="ctr"/>
          <a:lstStyle/>
          <a:p>
            <a:pPr indent="0" marL="0">
              <a:buNone/>
            </a:pPr>
            <a:r>
              <a:rPr lang="en-US" sz="1250" b="1" dirty="0">
                <a:solidFill>
                  <a:srgbClr val="06B6D4"/>
                </a:solidFill>
                <a:latin typeface="Georgia" pitchFamily="34" charset="0"/>
                <a:ea typeface="Georgia" pitchFamily="34" charset="-122"/>
                <a:cs typeface="Georgia" pitchFamily="34" charset="-120"/>
              </a:rPr>
              <a:t>Sustainable Computation</a:t>
            </a:r>
            <a:endParaRPr lang="en-US" sz="1250" dirty="0"/>
          </a:p>
        </p:txBody>
      </p:sp>
      <p:sp>
        <p:nvSpPr>
          <p:cNvPr id="40" name="Text 38"/>
          <p:cNvSpPr/>
          <p:nvPr/>
        </p:nvSpPr>
        <p:spPr>
          <a:xfrm>
            <a:off x="4023360" y="3886200"/>
            <a:ext cx="4297680" cy="457200"/>
          </a:xfrm>
          <a:prstGeom prst="rect">
            <a:avLst/>
          </a:prstGeom>
          <a:noFill/>
          <a:ln/>
        </p:spPr>
        <p:txBody>
          <a:bodyPr wrap="square" lIns="0" tIns="0" rIns="0" bIns="0" rtlCol="0" anchor="ctr"/>
          <a:lstStyle/>
          <a:p>
            <a:pPr indent="0" marL="0">
              <a:buNone/>
            </a:pPr>
            <a:r>
              <a:rPr lang="en-US" sz="1050" dirty="0">
                <a:solidFill>
                  <a:srgbClr val="E8E8E8"/>
                </a:solidFill>
                <a:latin typeface="Calibri" pitchFamily="34" charset="0"/>
                <a:ea typeface="Calibri" pitchFamily="34" charset="-122"/>
                <a:cs typeface="Calibri" pitchFamily="34" charset="-120"/>
              </a:rPr>
              <a:t>Edge devices use token-efficient structured outputs (JSON, not prose) to minimise energy per decision cycle.</a:t>
            </a:r>
            <a:endParaRPr lang="en-US" sz="1050" dirty="0"/>
          </a:p>
        </p:txBody>
      </p:sp>
      <p:sp>
        <p:nvSpPr>
          <p:cNvPr id="41" name="Shape 39"/>
          <p:cNvSpPr/>
          <p:nvPr/>
        </p:nvSpPr>
        <p:spPr>
          <a:xfrm>
            <a:off x="640080" y="4416552"/>
            <a:ext cx="7863840" cy="457200"/>
          </a:xfrm>
          <a:prstGeom prst="rect">
            <a:avLst/>
          </a:prstGeom>
          <a:solidFill>
            <a:srgbClr val="1E2A4A"/>
          </a:solidFill>
          <a:ln/>
        </p:spPr>
      </p:sp>
      <p:sp>
        <p:nvSpPr>
          <p:cNvPr id="42" name="Shape 40"/>
          <p:cNvSpPr/>
          <p:nvPr/>
        </p:nvSpPr>
        <p:spPr>
          <a:xfrm>
            <a:off x="640080" y="4416552"/>
            <a:ext cx="54864" cy="457200"/>
          </a:xfrm>
          <a:prstGeom prst="rect">
            <a:avLst/>
          </a:prstGeom>
          <a:solidFill>
            <a:srgbClr val="F59E0B"/>
          </a:solidFill>
          <a:ln/>
        </p:spPr>
      </p:sp>
      <p:sp>
        <p:nvSpPr>
          <p:cNvPr id="43" name="Shape 41"/>
          <p:cNvSpPr/>
          <p:nvPr/>
        </p:nvSpPr>
        <p:spPr>
          <a:xfrm>
            <a:off x="868680" y="4480560"/>
            <a:ext cx="329184" cy="329184"/>
          </a:xfrm>
          <a:prstGeom prst="ellipse">
            <a:avLst/>
          </a:prstGeom>
          <a:solidFill>
            <a:srgbClr val="F59E0B"/>
          </a:solidFill>
          <a:ln/>
        </p:spPr>
      </p:sp>
      <p:sp>
        <p:nvSpPr>
          <p:cNvPr id="44" name="Text 42"/>
          <p:cNvSpPr/>
          <p:nvPr/>
        </p:nvSpPr>
        <p:spPr>
          <a:xfrm>
            <a:off x="868680" y="448056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7</a:t>
            </a:r>
            <a:endParaRPr lang="en-US" sz="1200" dirty="0"/>
          </a:p>
        </p:txBody>
      </p:sp>
      <p:sp>
        <p:nvSpPr>
          <p:cNvPr id="45" name="Text 43"/>
          <p:cNvSpPr/>
          <p:nvPr/>
        </p:nvSpPr>
        <p:spPr>
          <a:xfrm>
            <a:off x="1371600" y="4416552"/>
            <a:ext cx="2560320" cy="457200"/>
          </a:xfrm>
          <a:prstGeom prst="rect">
            <a:avLst/>
          </a:prstGeom>
          <a:noFill/>
          <a:ln/>
        </p:spPr>
        <p:txBody>
          <a:bodyPr wrap="square" lIns="0" tIns="0" rIns="0" bIns="0" rtlCol="0" anchor="ctr"/>
          <a:lstStyle/>
          <a:p>
            <a:pPr indent="0" marL="0">
              <a:buNone/>
            </a:pPr>
            <a:r>
              <a:rPr lang="en-US" sz="1250" b="1" dirty="0">
                <a:solidFill>
                  <a:srgbClr val="F59E0B"/>
                </a:solidFill>
                <a:latin typeface="Georgia" pitchFamily="34" charset="0"/>
                <a:ea typeface="Georgia" pitchFamily="34" charset="-122"/>
                <a:cs typeface="Georgia" pitchFamily="34" charset="-120"/>
              </a:rPr>
              <a:t>Accountability &amp; Liability Logging</a:t>
            </a:r>
            <a:endParaRPr lang="en-US" sz="1250" dirty="0"/>
          </a:p>
        </p:txBody>
      </p:sp>
      <p:sp>
        <p:nvSpPr>
          <p:cNvPr id="46" name="Text 44"/>
          <p:cNvSpPr/>
          <p:nvPr/>
        </p:nvSpPr>
        <p:spPr>
          <a:xfrm>
            <a:off x="4023360" y="4416552"/>
            <a:ext cx="4297680" cy="457200"/>
          </a:xfrm>
          <a:prstGeom prst="rect">
            <a:avLst/>
          </a:prstGeom>
          <a:noFill/>
          <a:ln/>
        </p:spPr>
        <p:txBody>
          <a:bodyPr wrap="square" lIns="0" tIns="0" rIns="0" bIns="0" rtlCol="0" anchor="ctr"/>
          <a:lstStyle/>
          <a:p>
            <a:pPr indent="0" marL="0">
              <a:buNone/>
            </a:pPr>
            <a:r>
              <a:rPr lang="en-US" sz="1050" dirty="0">
                <a:solidFill>
                  <a:srgbClr val="E8E8E8"/>
                </a:solidFill>
                <a:latin typeface="Calibri" pitchFamily="34" charset="0"/>
                <a:ea typeface="Calibri" pitchFamily="34" charset="-122"/>
                <a:cs typeface="Calibri" pitchFamily="34" charset="-120"/>
              </a:rPr>
              <a:t>Blockchain logs attribute each decision to a specific device ID, model version, and firmware for traceability.</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0B981"/>
          </a:solidFill>
          <a:ln/>
        </p:spPr>
      </p:sp>
      <p:sp>
        <p:nvSpPr>
          <p:cNvPr id="3" name="Text 1"/>
          <p:cNvSpPr/>
          <p:nvPr/>
        </p:nvSpPr>
        <p:spPr>
          <a:xfrm>
            <a:off x="640080" y="274320"/>
            <a:ext cx="1828800" cy="274320"/>
          </a:xfrm>
          <a:prstGeom prst="rect">
            <a:avLst/>
          </a:prstGeom>
          <a:noFill/>
          <a:ln/>
        </p:spPr>
        <p:txBody>
          <a:bodyPr wrap="square" lIns="0" tIns="0" rIns="0" bIns="0" rtlCol="0" anchor="ctr"/>
          <a:lstStyle/>
          <a:p>
            <a:pPr indent="0" marL="0">
              <a:buNone/>
            </a:pPr>
            <a:r>
              <a:rPr lang="en-US" sz="1100" b="1" spc="400" kern="0" dirty="0">
                <a:solidFill>
                  <a:srgbClr val="10B981"/>
                </a:solidFill>
                <a:latin typeface="Calibri" pitchFamily="34" charset="0"/>
                <a:ea typeface="Calibri" pitchFamily="34" charset="-122"/>
                <a:cs typeface="Calibri" pitchFamily="34" charset="-120"/>
              </a:rPr>
              <a:t>PART 3</a:t>
            </a:r>
            <a:endParaRPr lang="en-US" sz="1100" dirty="0"/>
          </a:p>
        </p:txBody>
      </p:sp>
      <p:sp>
        <p:nvSpPr>
          <p:cNvPr id="4" name="Text 2"/>
          <p:cNvSpPr/>
          <p:nvPr/>
        </p:nvSpPr>
        <p:spPr>
          <a:xfrm>
            <a:off x="640080" y="502920"/>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Speculative Scenario — Code Respected</a:t>
            </a:r>
            <a:endParaRPr lang="en-US" sz="2600" dirty="0"/>
          </a:p>
        </p:txBody>
      </p:sp>
      <p:sp>
        <p:nvSpPr>
          <p:cNvPr id="5" name="Shape 3"/>
          <p:cNvSpPr/>
          <p:nvPr/>
        </p:nvSpPr>
        <p:spPr>
          <a:xfrm>
            <a:off x="640080" y="1143000"/>
            <a:ext cx="2194560" cy="320040"/>
          </a:xfrm>
          <a:prstGeom prst="rect">
            <a:avLst/>
          </a:prstGeom>
          <a:solidFill>
            <a:srgbClr val="10B981"/>
          </a:solidFill>
          <a:ln/>
        </p:spPr>
      </p:sp>
      <p:sp>
        <p:nvSpPr>
          <p:cNvPr id="6" name="Text 4"/>
          <p:cNvSpPr/>
          <p:nvPr/>
        </p:nvSpPr>
        <p:spPr>
          <a:xfrm>
            <a:off x="685800" y="1143000"/>
            <a:ext cx="214884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PREFERABLE FUTURE — 2035</a:t>
            </a:r>
            <a:endParaRPr lang="en-US" sz="1000" dirty="0"/>
          </a:p>
        </p:txBody>
      </p:sp>
      <p:sp>
        <p:nvSpPr>
          <p:cNvPr id="7" name="Shape 5"/>
          <p:cNvSpPr/>
          <p:nvPr/>
        </p:nvSpPr>
        <p:spPr>
          <a:xfrm>
            <a:off x="640080" y="1645920"/>
            <a:ext cx="7863840" cy="3200400"/>
          </a:xfrm>
          <a:prstGeom prst="rect">
            <a:avLst/>
          </a:prstGeom>
          <a:solidFill>
            <a:srgbClr val="1E2A4A"/>
          </a:solidFill>
          <a:ln/>
          <a:effectLst>
            <a:outerShdw sx="100000" sy="100000" kx="0" ky="0" algn="bl" rotWithShape="0" blurRad="101600" dist="38100" dir="8100000">
              <a:srgbClr val="000000">
                <a:alpha val="30000"/>
              </a:srgbClr>
            </a:outerShdw>
          </a:effectLst>
        </p:spPr>
      </p:sp>
      <p:sp>
        <p:nvSpPr>
          <p:cNvPr id="8" name="Shape 6"/>
          <p:cNvSpPr/>
          <p:nvPr/>
        </p:nvSpPr>
        <p:spPr>
          <a:xfrm>
            <a:off x="640080" y="1645920"/>
            <a:ext cx="73152" cy="3200400"/>
          </a:xfrm>
          <a:prstGeom prst="rect">
            <a:avLst/>
          </a:prstGeom>
          <a:solidFill>
            <a:srgbClr val="10B981"/>
          </a:solidFill>
          <a:ln/>
        </p:spPr>
      </p:sp>
      <p:sp>
        <p:nvSpPr>
          <p:cNvPr id="9" name="Text 7"/>
          <p:cNvSpPr/>
          <p:nvPr/>
        </p:nvSpPr>
        <p:spPr>
          <a:xfrm>
            <a:off x="960120" y="1737360"/>
            <a:ext cx="7223760" cy="365760"/>
          </a:xfrm>
          <a:prstGeom prst="rect">
            <a:avLst/>
          </a:prstGeom>
          <a:noFill/>
          <a:ln/>
        </p:spPr>
        <p:txBody>
          <a:bodyPr wrap="square" lIns="0" tIns="0" rIns="0" bIns="0" rtlCol="0" anchor="ctr"/>
          <a:lstStyle/>
          <a:p>
            <a:pPr indent="0" marL="0">
              <a:buNone/>
            </a:pPr>
            <a:r>
              <a:rPr lang="en-US" sz="1500" b="1" dirty="0">
                <a:solidFill>
                  <a:srgbClr val="10B981"/>
                </a:solidFill>
                <a:latin typeface="Georgia" pitchFamily="34" charset="0"/>
                <a:ea typeface="Georgia" pitchFamily="34" charset="-122"/>
                <a:cs typeface="Georgia" pitchFamily="34" charset="-120"/>
              </a:rPr>
              <a:t>Code 1 (Algorithmic Transparency) is Respected</a:t>
            </a:r>
            <a:endParaRPr lang="en-US" sz="1500" dirty="0"/>
          </a:p>
        </p:txBody>
      </p:sp>
      <p:sp>
        <p:nvSpPr>
          <p:cNvPr id="10" name="Text 8"/>
          <p:cNvSpPr/>
          <p:nvPr/>
        </p:nvSpPr>
        <p:spPr>
          <a:xfrm>
            <a:off x="960120" y="2148840"/>
            <a:ext cx="7315200" cy="2560320"/>
          </a:xfrm>
          <a:prstGeom prst="rect">
            <a:avLst/>
          </a:prstGeom>
          <a:noFill/>
          <a:ln/>
        </p:spPr>
        <p:txBody>
          <a:bodyPr wrap="square" lIns="0" tIns="0" rIns="0" bIns="0" rtlCol="0" anchor="ctr"/>
          <a:lstStyle/>
          <a:p>
            <a:pPr indent="0" marL="0">
              <a:lnSpc>
                <a:spcPct val="140000"/>
              </a:lnSpc>
              <a:buNone/>
            </a:pPr>
            <a:r>
              <a:rPr lang="en-US" sz="1250" dirty="0">
                <a:solidFill>
                  <a:srgbClr val="E8E8E8"/>
                </a:solidFill>
                <a:latin typeface="Calibri" pitchFamily="34" charset="0"/>
                <a:ea typeface="Calibri" pitchFamily="34" charset="-122"/>
                <a:cs typeface="Calibri" pitchFamily="34" charset="-120"/>
              </a:rPr>
              <a:t>London, 2035. The city's 4,200 intersections run Edge Negotiator nodes. After a collision at Euston Road, Transport for London queries the blockchain and retrieves the full decision chain: the AI at Junction 14 correctly identified a delivery van running a red light and attempted evasive re-phasing, prioritising pedestrian safety (urgency 8) over traffic flow (urgency 2).</a:t>
            </a:r>
            <a:endParaRPr lang="en-US" sz="1250" dirty="0"/>
          </a:p>
          <a:p>
            <a:pPr indent="0" marL="0">
              <a:lnSpc>
                <a:spcPct val="140000"/>
              </a:lnSpc>
              <a:buNone/>
            </a:pPr>
            <a:endParaRPr lang="en-US" sz="1250" dirty="0"/>
          </a:p>
          <a:p>
            <a:pPr indent="0" marL="0">
              <a:lnSpc>
                <a:spcPct val="140000"/>
              </a:lnSpc>
              <a:buNone/>
            </a:pPr>
            <a:r>
              <a:rPr lang="en-US" sz="1250" dirty="0">
                <a:solidFill>
                  <a:srgbClr val="E8E8E8"/>
                </a:solidFill>
                <a:latin typeface="Calibri" pitchFamily="34" charset="0"/>
                <a:ea typeface="Calibri" pitchFamily="34" charset="-122"/>
                <a:cs typeface="Calibri" pitchFamily="34" charset="-120"/>
              </a:rPr>
              <a:t>The immutable log is presented in a public inquiry. The manufacturer's liability is cleared. Insurance companies begin offering reduced premiums for auditable AI routes, creating a positive economic feedback loop. Transparency has transformed accountability from a regulatory burden into a competitive advantage.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640080" y="274320"/>
            <a:ext cx="1828800" cy="274320"/>
          </a:xfrm>
          <a:prstGeom prst="rect">
            <a:avLst/>
          </a:prstGeom>
          <a:noFill/>
          <a:ln/>
        </p:spPr>
        <p:txBody>
          <a:bodyPr wrap="square" lIns="0" tIns="0" rIns="0" bIns="0" rtlCol="0" anchor="ctr"/>
          <a:lstStyle/>
          <a:p>
            <a:pPr indent="0" marL="0">
              <a:buNone/>
            </a:pPr>
            <a:r>
              <a:rPr lang="en-US" sz="1100" b="1" spc="400" kern="0" dirty="0">
                <a:solidFill>
                  <a:srgbClr val="EF4444"/>
                </a:solidFill>
                <a:latin typeface="Calibri" pitchFamily="34" charset="0"/>
                <a:ea typeface="Calibri" pitchFamily="34" charset="-122"/>
                <a:cs typeface="Calibri" pitchFamily="34" charset="-120"/>
              </a:rPr>
              <a:t>PART 3</a:t>
            </a:r>
            <a:endParaRPr lang="en-US" sz="1100" dirty="0"/>
          </a:p>
        </p:txBody>
      </p:sp>
      <p:sp>
        <p:nvSpPr>
          <p:cNvPr id="4" name="Text 2"/>
          <p:cNvSpPr/>
          <p:nvPr/>
        </p:nvSpPr>
        <p:spPr>
          <a:xfrm>
            <a:off x="640080" y="502920"/>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Speculative Scenario — Code Broken</a:t>
            </a:r>
            <a:endParaRPr lang="en-US" sz="2600" dirty="0"/>
          </a:p>
        </p:txBody>
      </p:sp>
      <p:sp>
        <p:nvSpPr>
          <p:cNvPr id="5" name="Shape 3"/>
          <p:cNvSpPr/>
          <p:nvPr/>
        </p:nvSpPr>
        <p:spPr>
          <a:xfrm>
            <a:off x="640080" y="1143000"/>
            <a:ext cx="2011680" cy="320040"/>
          </a:xfrm>
          <a:prstGeom prst="rect">
            <a:avLst/>
          </a:prstGeom>
          <a:solidFill>
            <a:srgbClr val="EF4444"/>
          </a:solidFill>
          <a:ln/>
        </p:spPr>
      </p:sp>
      <p:sp>
        <p:nvSpPr>
          <p:cNvPr id="6" name="Text 4"/>
          <p:cNvSpPr/>
          <p:nvPr/>
        </p:nvSpPr>
        <p:spPr>
          <a:xfrm>
            <a:off x="685800" y="1143000"/>
            <a:ext cx="196596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POSSIBLE FUTURE — 2032</a:t>
            </a:r>
            <a:endParaRPr lang="en-US" sz="1000" dirty="0"/>
          </a:p>
        </p:txBody>
      </p:sp>
      <p:sp>
        <p:nvSpPr>
          <p:cNvPr id="7" name="Shape 5"/>
          <p:cNvSpPr/>
          <p:nvPr/>
        </p:nvSpPr>
        <p:spPr>
          <a:xfrm>
            <a:off x="640080" y="1645920"/>
            <a:ext cx="7863840" cy="3200400"/>
          </a:xfrm>
          <a:prstGeom prst="rect">
            <a:avLst/>
          </a:prstGeom>
          <a:solidFill>
            <a:srgbClr val="1E2A4A"/>
          </a:solidFill>
          <a:ln/>
          <a:effectLst>
            <a:outerShdw sx="100000" sy="100000" kx="0" ky="0" algn="bl" rotWithShape="0" blurRad="101600" dist="38100" dir="8100000">
              <a:srgbClr val="000000">
                <a:alpha val="30000"/>
              </a:srgbClr>
            </a:outerShdw>
          </a:effectLst>
        </p:spPr>
      </p:sp>
      <p:sp>
        <p:nvSpPr>
          <p:cNvPr id="8" name="Shape 6"/>
          <p:cNvSpPr/>
          <p:nvPr/>
        </p:nvSpPr>
        <p:spPr>
          <a:xfrm>
            <a:off x="640080" y="1645920"/>
            <a:ext cx="73152" cy="3200400"/>
          </a:xfrm>
          <a:prstGeom prst="rect">
            <a:avLst/>
          </a:prstGeom>
          <a:solidFill>
            <a:srgbClr val="EF4444"/>
          </a:solidFill>
          <a:ln/>
        </p:spPr>
      </p:sp>
      <p:sp>
        <p:nvSpPr>
          <p:cNvPr id="9" name="Text 7"/>
          <p:cNvSpPr/>
          <p:nvPr/>
        </p:nvSpPr>
        <p:spPr>
          <a:xfrm>
            <a:off x="960120" y="1737360"/>
            <a:ext cx="7223760" cy="365760"/>
          </a:xfrm>
          <a:prstGeom prst="rect">
            <a:avLst/>
          </a:prstGeom>
          <a:noFill/>
          <a:ln/>
        </p:spPr>
        <p:txBody>
          <a:bodyPr wrap="square" lIns="0" tIns="0" rIns="0" bIns="0" rtlCol="0" anchor="ctr"/>
          <a:lstStyle/>
          <a:p>
            <a:pPr indent="0" marL="0">
              <a:buNone/>
            </a:pPr>
            <a:r>
              <a:rPr lang="en-US" sz="1500" b="1" dirty="0">
                <a:solidFill>
                  <a:srgbClr val="EF4444"/>
                </a:solidFill>
                <a:latin typeface="Georgia" pitchFamily="34" charset="0"/>
                <a:ea typeface="Georgia" pitchFamily="34" charset="-122"/>
                <a:cs typeface="Georgia" pitchFamily="34" charset="-120"/>
              </a:rPr>
              <a:t>Code 5 (Adversarial Robustness) is Broken</a:t>
            </a:r>
            <a:endParaRPr lang="en-US" sz="1500" dirty="0"/>
          </a:p>
        </p:txBody>
      </p:sp>
      <p:sp>
        <p:nvSpPr>
          <p:cNvPr id="10" name="Text 8"/>
          <p:cNvSpPr/>
          <p:nvPr/>
        </p:nvSpPr>
        <p:spPr>
          <a:xfrm>
            <a:off x="960120" y="2148840"/>
            <a:ext cx="7315200" cy="2560320"/>
          </a:xfrm>
          <a:prstGeom prst="rect">
            <a:avLst/>
          </a:prstGeom>
          <a:noFill/>
          <a:ln/>
        </p:spPr>
        <p:txBody>
          <a:bodyPr wrap="square" lIns="0" tIns="0" rIns="0" bIns="0" rtlCol="0" anchor="ctr"/>
          <a:lstStyle/>
          <a:p>
            <a:pPr indent="0" marL="0">
              <a:lnSpc>
                <a:spcPct val="140000"/>
              </a:lnSpc>
              <a:buNone/>
            </a:pPr>
            <a:r>
              <a:rPr lang="en-US" sz="1250" dirty="0">
                <a:solidFill>
                  <a:srgbClr val="E8E8E8"/>
                </a:solidFill>
                <a:latin typeface="Calibri" pitchFamily="34" charset="0"/>
                <a:ea typeface="Calibri" pitchFamily="34" charset="-122"/>
                <a:cs typeface="Calibri" pitchFamily="34" charset="-120"/>
              </a:rPr>
              <a:t>Manchester, 2032. Criminals discover that adversarial patterns on digital billboards can fool the vision-language pipeline into hallucinating "ghost vehicles." The system grants green corridors to empty lanes while genuine traffic is held at red. Organised theft rings exploit the manufactured gridlock to isolate delivery vehicles.</a:t>
            </a:r>
            <a:endParaRPr lang="en-US" sz="1250" dirty="0"/>
          </a:p>
          <a:p>
            <a:pPr indent="0" marL="0">
              <a:lnSpc>
                <a:spcPct val="140000"/>
              </a:lnSpc>
              <a:buNone/>
            </a:pPr>
            <a:endParaRPr lang="en-US" sz="1250" dirty="0"/>
          </a:p>
          <a:p>
            <a:pPr indent="0" marL="0">
              <a:lnSpc>
                <a:spcPct val="140000"/>
              </a:lnSpc>
              <a:buNone/>
            </a:pPr>
            <a:r>
              <a:rPr lang="en-US" sz="1250" dirty="0">
                <a:solidFill>
                  <a:srgbClr val="E8E8E8"/>
                </a:solidFill>
                <a:latin typeface="Calibri" pitchFamily="34" charset="0"/>
                <a:ea typeface="Calibri" pitchFamily="34" charset="-122"/>
                <a:cs typeface="Calibri" pitchFamily="34" charset="-120"/>
              </a:rPr>
              <a:t>The city disables the AI entirely, reverting to 1990s fixed-timing. Commuters lose 45 minutes daily. The vendor faces lawsuits. Other cities cancel planned deployments. A single adversarial exploit collapses public confidence in autonomous infrastructure for a decade.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213E"/>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8A838"/>
          </a:solidFill>
          <a:ln/>
        </p:spPr>
      </p:sp>
      <p:sp>
        <p:nvSpPr>
          <p:cNvPr id="3" name="Shape 1"/>
          <p:cNvSpPr/>
          <p:nvPr/>
        </p:nvSpPr>
        <p:spPr>
          <a:xfrm>
            <a:off x="0" y="4754880"/>
            <a:ext cx="9144000" cy="388620"/>
          </a:xfrm>
          <a:prstGeom prst="rect">
            <a:avLst/>
          </a:prstGeom>
          <a:solidFill>
            <a:srgbClr val="1A1A2E"/>
          </a:solidFill>
          <a:ln/>
        </p:spPr>
      </p:sp>
      <p:sp>
        <p:nvSpPr>
          <p:cNvPr id="4" name="Text 2"/>
          <p:cNvSpPr/>
          <p:nvPr/>
        </p:nvSpPr>
        <p:spPr>
          <a:xfrm>
            <a:off x="640080" y="365760"/>
            <a:ext cx="7315200" cy="640080"/>
          </a:xfrm>
          <a:prstGeom prst="rect">
            <a:avLst/>
          </a:prstGeom>
          <a:noFill/>
          <a:ln/>
        </p:spPr>
        <p:txBody>
          <a:bodyPr wrap="square" lIns="0" tIns="0" rIns="0" bIns="0" rtlCol="0" anchor="ctr"/>
          <a:lstStyle/>
          <a:p>
            <a:pPr indent="0" marL="0">
              <a:buNone/>
            </a:pPr>
            <a:r>
              <a:rPr lang="en-US" sz="3600" b="1" dirty="0">
                <a:solidFill>
                  <a:srgbClr val="E8A838"/>
                </a:solidFill>
                <a:latin typeface="Georgia" pitchFamily="34" charset="0"/>
                <a:ea typeface="Georgia" pitchFamily="34" charset="-122"/>
                <a:cs typeface="Georgia" pitchFamily="34" charset="-120"/>
              </a:rPr>
              <a:t>Conclusion</a:t>
            </a:r>
            <a:endParaRPr lang="en-US" sz="3600" dirty="0"/>
          </a:p>
        </p:txBody>
      </p:sp>
      <p:sp>
        <p:nvSpPr>
          <p:cNvPr id="5" name="Shape 3"/>
          <p:cNvSpPr/>
          <p:nvPr/>
        </p:nvSpPr>
        <p:spPr>
          <a:xfrm>
            <a:off x="640080" y="1188720"/>
            <a:ext cx="7863840" cy="3200400"/>
          </a:xfrm>
          <a:prstGeom prst="rect">
            <a:avLst/>
          </a:prstGeom>
          <a:solidFill>
            <a:srgbClr val="1E2A4A"/>
          </a:solidFill>
          <a:ln/>
          <a:effectLst>
            <a:outerShdw sx="100000" sy="100000" kx="0" ky="0" algn="bl" rotWithShape="0" blurRad="101600" dist="38100" dir="8100000">
              <a:srgbClr val="000000">
                <a:alpha val="30000"/>
              </a:srgbClr>
            </a:outerShdw>
          </a:effectLst>
        </p:spPr>
      </p:sp>
      <p:sp>
        <p:nvSpPr>
          <p:cNvPr id="6" name="Text 4"/>
          <p:cNvSpPr/>
          <p:nvPr/>
        </p:nvSpPr>
        <p:spPr>
          <a:xfrm>
            <a:off x="868680" y="1325880"/>
            <a:ext cx="7406640" cy="2926080"/>
          </a:xfrm>
          <a:prstGeom prst="rect">
            <a:avLst/>
          </a:prstGeom>
          <a:noFill/>
          <a:ln/>
        </p:spPr>
        <p:txBody>
          <a:bodyPr wrap="square" lIns="0" tIns="0" rIns="0" bIns="0" rtlCol="0" anchor="ctr"/>
          <a:lstStyle/>
          <a:p>
            <a:pPr indent="0" marL="0">
              <a:lnSpc>
                <a:spcPct val="145000"/>
              </a:lnSpc>
              <a:buNone/>
            </a:pPr>
            <a:r>
              <a:rPr lang="en-US" sz="1300" dirty="0">
                <a:solidFill>
                  <a:srgbClr val="E8E8E8"/>
                </a:solidFill>
                <a:latin typeface="Calibri" pitchFamily="34" charset="0"/>
                <a:ea typeface="Calibri" pitchFamily="34" charset="-122"/>
                <a:cs typeface="Calibri" pitchFamily="34" charset="-120"/>
              </a:rPr>
              <a:t>Decentralized AI traffic systems demand more than performance — they require a governance framework rooted in transparency, safety, equity, and accountability.</a:t>
            </a:r>
            <a:endParaRPr lang="en-US" sz="1300" dirty="0"/>
          </a:p>
          <a:p>
            <a:pPr indent="0" marL="0">
              <a:lnSpc>
                <a:spcPct val="145000"/>
              </a:lnSpc>
              <a:buNone/>
            </a:pPr>
            <a:endParaRPr lang="en-US" sz="1300" dirty="0"/>
          </a:p>
          <a:p>
            <a:pPr indent="0" marL="0">
              <a:lnSpc>
                <a:spcPct val="145000"/>
              </a:lnSpc>
              <a:buNone/>
            </a:pPr>
            <a:r>
              <a:rPr lang="en-US" sz="1300" dirty="0">
                <a:solidFill>
                  <a:srgbClr val="E8E8E8"/>
                </a:solidFill>
                <a:latin typeface="Calibri" pitchFamily="34" charset="0"/>
                <a:ea typeface="Calibri" pitchFamily="34" charset="-122"/>
                <a:cs typeface="Calibri" pitchFamily="34" charset="-120"/>
              </a:rPr>
              <a:t>These seven codes generalise beyond traffic to any IoT system making autonomous decisions affecting public safety — smart grids, autonomous drones, hospital monitoring — all face the same trust deficit. The "act first, prove later" blockchain pattern offers a transferable architecture.</a:t>
            </a:r>
            <a:endParaRPr lang="en-US" sz="1300" dirty="0"/>
          </a:p>
          <a:p>
            <a:pPr indent="0" marL="0">
              <a:lnSpc>
                <a:spcPct val="145000"/>
              </a:lnSpc>
              <a:buNone/>
            </a:pPr>
            <a:endParaRPr lang="en-US" sz="1300" dirty="0"/>
          </a:p>
          <a:p>
            <a:pPr indent="0" marL="0">
              <a:lnSpc>
                <a:spcPct val="145000"/>
              </a:lnSpc>
              <a:buNone/>
            </a:pPr>
            <a:r>
              <a:rPr lang="en-US" sz="1300" dirty="0">
                <a:solidFill>
                  <a:srgbClr val="E8E8E8"/>
                </a:solidFill>
                <a:latin typeface="Calibri" pitchFamily="34" charset="0"/>
                <a:ea typeface="Calibri" pitchFamily="34" charset="-122"/>
                <a:cs typeface="Calibri" pitchFamily="34" charset="-120"/>
              </a:rPr>
              <a:t>The speculative scenarios illustrate that the gap between a preferable and catastrophic future lies not in AI capability, but in the robustness of the ethical framework surrounding it.</a:t>
            </a:r>
            <a:endParaRPr lang="en-US" sz="1300" dirty="0"/>
          </a:p>
        </p:txBody>
      </p:sp>
      <p:pic>
        <p:nvPicPr>
          <p:cNvPr id="7" name="Image 0" descr="preencoded.png">    </p:cNvPr>
          <p:cNvPicPr>
            <a:picLocks noChangeAspect="1"/>
          </p:cNvPicPr>
          <p:nvPr/>
        </p:nvPicPr>
        <p:blipFill>
          <a:blip r:embed="rId1"/>
          <a:stretch>
            <a:fillRect/>
          </a:stretch>
        </p:blipFill>
        <p:spPr>
          <a:xfrm>
            <a:off x="7772400" y="3931920"/>
            <a:ext cx="640080" cy="640080"/>
          </a:xfrm>
          <a:prstGeom prst="rect">
            <a:avLst/>
          </a:prstGeom>
        </p:spPr>
      </p:pic>
      <p:sp>
        <p:nvSpPr>
          <p:cNvPr id="8" name="Text 5"/>
          <p:cNvSpPr/>
          <p:nvPr/>
        </p:nvSpPr>
        <p:spPr>
          <a:xfrm>
            <a:off x="731520" y="4800600"/>
            <a:ext cx="4572000" cy="320040"/>
          </a:xfrm>
          <a:prstGeom prst="rect">
            <a:avLst/>
          </a:prstGeom>
          <a:noFill/>
          <a:ln/>
        </p:spPr>
        <p:txBody>
          <a:bodyPr wrap="square" lIns="0" tIns="0" rIns="0" bIns="0" rtlCol="0" anchor="ctr"/>
          <a:lstStyle/>
          <a:p>
            <a:pPr indent="0" marL="0">
              <a:buNone/>
            </a:pPr>
            <a:r>
              <a:rPr lang="en-US" sz="1100" dirty="0">
                <a:solidFill>
                  <a:srgbClr val="9CA3AF"/>
                </a:solidFill>
                <a:latin typeface="Calibri" pitchFamily="34" charset="0"/>
                <a:ea typeface="Calibri" pitchFamily="34" charset="-122"/>
                <a:cs typeface="Calibri" pitchFamily="34" charset="-120"/>
              </a:rPr>
              <a:t>COMP0184 — System Thinking through Speculative Design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Code of Conduct — Decentralized Autonomous Traffic Optimization</dc:title>
  <dc:subject>PptxGenJS Presentation</dc:subject>
  <dc:creator>Ebenezer Isaac</dc:creator>
  <cp:lastModifiedBy>Ebenezer Isaac</cp:lastModifiedBy>
  <cp:revision>1</cp:revision>
  <dcterms:created xsi:type="dcterms:W3CDTF">2026-03-25T10:37:50Z</dcterms:created>
  <dcterms:modified xsi:type="dcterms:W3CDTF">2026-03-25T10:37:50Z</dcterms:modified>
</cp:coreProperties>
</file>