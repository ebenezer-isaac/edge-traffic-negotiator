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1760" r:id="rId2"/>
    <p:sldId id="307" r:id="rId3"/>
    <p:sldId id="602" r:id="rId4"/>
    <p:sldId id="1769" r:id="rId5"/>
    <p:sldId id="1770" r:id="rId6"/>
    <p:sldId id="1736" r:id="rId7"/>
    <p:sldId id="1719" r:id="rId8"/>
    <p:sldId id="17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D1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70376" autoAdjust="0"/>
  </p:normalViewPr>
  <p:slideViewPr>
    <p:cSldViewPr snapToGrid="0">
      <p:cViewPr varScale="1">
        <p:scale>
          <a:sx n="74" d="100"/>
          <a:sy n="74" d="100"/>
        </p:scale>
        <p:origin x="4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49BF8A-3DDD-4232-9C5C-CB9AC9ECE8E9}" type="datetimeFigureOut">
              <a:rPr lang="en-GB" smtClean="0"/>
              <a:t>12/01/2026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8FDF18-2084-40B0-A4EF-0D9C58494262}" type="slidenum">
              <a:rPr lang="en-GB" smtClean="0"/>
              <a:t>‹#›</a:t>
            </a:fld>
            <a:endParaRPr lang="en-GB"/>
          </a:p>
        </p:txBody>
      </p:sp>
    </p:spTree>
    <p:extLst>
      <p:ext uri="{BB962C8B-B14F-4D97-AF65-F5344CB8AC3E}">
        <p14:creationId xmlns:p14="http://schemas.microsoft.com/office/powerpoint/2010/main" val="1140232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 depth understanding of emerging user interfaces and technologies. </a:t>
            </a:r>
          </a:p>
          <a:p>
            <a:endParaRPr lang="en-US"/>
          </a:p>
        </p:txBody>
      </p:sp>
      <p:sp>
        <p:nvSpPr>
          <p:cNvPr id="4" name="Slide Number Placeholder 3"/>
          <p:cNvSpPr>
            <a:spLocks noGrp="1"/>
          </p:cNvSpPr>
          <p:nvPr>
            <p:ph type="sldNum" sz="quarter" idx="10"/>
          </p:nvPr>
        </p:nvSpPr>
        <p:spPr/>
        <p:txBody>
          <a:bodyPr/>
          <a:lstStyle/>
          <a:p>
            <a:fld id="{2A1161E2-6868-7E46-B1B1-63F571E7A2ED}" type="slidenum">
              <a:rPr lang="en-GB" smtClean="0">
                <a:solidFill>
                  <a:prstClr val="black"/>
                </a:solidFill>
              </a:rPr>
              <a:pPr/>
              <a:t>2</a:t>
            </a:fld>
            <a:endParaRPr lang="en-GB">
              <a:solidFill>
                <a:prstClr val="black"/>
              </a:solidFill>
            </a:endParaRPr>
          </a:p>
        </p:txBody>
      </p:sp>
    </p:spTree>
    <p:extLst>
      <p:ext uri="{BB962C8B-B14F-4D97-AF65-F5344CB8AC3E}">
        <p14:creationId xmlns:p14="http://schemas.microsoft.com/office/powerpoint/2010/main" val="855598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same content expressed </a:t>
            </a:r>
            <a:r>
              <a:rPr lang="en-GB" b="1" dirty="0"/>
              <a:t>plainly, without formatting</a:t>
            </a:r>
            <a:r>
              <a:rPr lang="en-GB" dirty="0"/>
              <a:t>, and with an explicit description of what happens </a:t>
            </a:r>
            <a:r>
              <a:rPr lang="en-GB" b="1" dirty="0"/>
              <a:t>on either side of the edge of chaos</a:t>
            </a:r>
            <a:r>
              <a:rPr lang="en-GB" dirty="0"/>
              <a:t> for each phenomenon.</a:t>
            </a:r>
          </a:p>
          <a:p>
            <a:r>
              <a:rPr lang="en-GB" dirty="0"/>
              <a:t>The edge of chaos is the regime between excessive order (stasis, rigidity) and excessive disorder (randomness, noise). Systems there are flexible without losing coherence.</a:t>
            </a:r>
          </a:p>
          <a:p>
            <a:endParaRPr lang="en-GB" dirty="0"/>
          </a:p>
          <a:p>
            <a:r>
              <a:rPr lang="en-GB" dirty="0"/>
              <a:t>In </a:t>
            </a:r>
            <a:r>
              <a:rPr lang="en-GB" b="1" dirty="0"/>
              <a:t>cognition and neuroscience</a:t>
            </a:r>
            <a:r>
              <a:rPr lang="en-GB" dirty="0"/>
              <a:t>, brain dynamics near the edge of chaos allow learning and adaptability. If the system is too ordered, neural activity becomes rigid and repetitive, leading to poor learning and inflexibility. If it is too chaotic, activity becomes noisy and unstable, preventing reliable memory or coordinated thought.</a:t>
            </a:r>
          </a:p>
          <a:p>
            <a:endParaRPr lang="en-GB" dirty="0"/>
          </a:p>
          <a:p>
            <a:r>
              <a:rPr lang="en-GB" dirty="0"/>
              <a:t>In biology and evolution, genetic regulatory networks near the edge of chaos support evolvability. On the ordered side, organisms are robust but brittle, meaning mutations are mostly harmful and innovation is rare. On the chaotic side, mutations disrupt essential functions, leading to nonviable organisms. Near the edge, small changes can produce useful variation without destroying the organism.</a:t>
            </a:r>
          </a:p>
          <a:p>
            <a:endParaRPr lang="en-GB" dirty="0"/>
          </a:p>
          <a:p>
            <a:r>
              <a:rPr lang="en-GB" dirty="0"/>
              <a:t>In morphogenesis and development, pattern formation emerges at the edge of chaos. Too much order produces uniform or frozen structures with little differentiation. Too much chaos yields disorganized growth with no stable form. Near the edge, coherent but diverse spatial patterns arise.</a:t>
            </a:r>
          </a:p>
          <a:p>
            <a:endParaRPr lang="en-GB" dirty="0"/>
          </a:p>
          <a:p>
            <a:r>
              <a:rPr lang="en-GB" dirty="0"/>
              <a:t>In collective </a:t>
            </a:r>
            <a:r>
              <a:rPr lang="en-GB" dirty="0" err="1"/>
              <a:t>behavior</a:t>
            </a:r>
            <a:r>
              <a:rPr lang="en-GB" dirty="0"/>
              <a:t> such as ant colonies or flocks, coordination emerges without central control near the edge of chaos. In overly ordered systems, </a:t>
            </a:r>
            <a:r>
              <a:rPr lang="en-GB" dirty="0" err="1"/>
              <a:t>behavior</a:t>
            </a:r>
            <a:r>
              <a:rPr lang="en-GB" dirty="0"/>
              <a:t> is rigid and slow to adapt to new conditions. In overly chaotic systems, individuals act independently and no collective structure forms. Near the edge, groups are coherent yet responsive.</a:t>
            </a:r>
          </a:p>
          <a:p>
            <a:endParaRPr lang="en-GB" dirty="0"/>
          </a:p>
          <a:p>
            <a:r>
              <a:rPr lang="en-GB" dirty="0"/>
              <a:t>In ecology, ecosystems near the edge of chaos show high resilience. On the ordered side, ecosystems are stable but fragile, so disturbances can cause sudden collapse. On the chaotic side, populations fluctuate wildly and species fail to persist. Near the edge, ecosystems absorb shocks while reorganizing effectively.</a:t>
            </a:r>
          </a:p>
          <a:p>
            <a:endParaRPr lang="en-GB" dirty="0"/>
          </a:p>
          <a:p>
            <a:r>
              <a:rPr lang="en-GB" dirty="0"/>
              <a:t>In </a:t>
            </a:r>
            <a:r>
              <a:rPr lang="en-GB" b="1" dirty="0"/>
              <a:t>computation and artificial life</a:t>
            </a:r>
            <a:r>
              <a:rPr lang="en-GB" dirty="0"/>
              <a:t>, systems near the edge of chaos maximize information processing. In the ordered regime, computation is trivial and repetitive, storing information but not transforming it. In the chaotic regime, computation is unreliable because information is quickly lost. Near the edge, information can be stored, transmitted, and transformed efficiently.</a:t>
            </a:r>
          </a:p>
          <a:p>
            <a:endParaRPr lang="en-GB" dirty="0"/>
          </a:p>
          <a:p>
            <a:r>
              <a:rPr lang="en-GB" dirty="0"/>
              <a:t>In learning systems and evolutionary algorithms, performance peaks near the edge of chaos. Too much order causes premature convergence and stagnation. Too much randomness prevents accumulation of improvements. Near the edge, exploration and exploitation are balanced.</a:t>
            </a:r>
          </a:p>
          <a:p>
            <a:endParaRPr lang="en-GB" dirty="0"/>
          </a:p>
          <a:p>
            <a:r>
              <a:rPr lang="en-GB" dirty="0"/>
              <a:t>In </a:t>
            </a:r>
            <a:r>
              <a:rPr lang="en-GB" b="1" dirty="0"/>
              <a:t>economics and social systems</a:t>
            </a:r>
            <a:r>
              <a:rPr lang="en-GB" dirty="0"/>
              <a:t>, innovation emerges near the edge of chaos. Overly ordered systems become bureaucratic and resistant to change. Overly chaotic systems are unstable and fail to sustain cooperation. Near the edge, novelty arises without systemic breakdown.</a:t>
            </a:r>
          </a:p>
          <a:p>
            <a:endParaRPr lang="en-GB" dirty="0"/>
          </a:p>
          <a:p>
            <a:r>
              <a:rPr lang="en-GB" dirty="0"/>
              <a:t>In physics and complex systems, self-organized criticality occurs near the edge of chaos. On the ordered side, disturbances fade quickly and the system is inert. On the chaotic side, disturbances cascade uncontrollably. Near the edge, events of all sizes occur, allowing adaptive reconfiguration.</a:t>
            </a:r>
          </a:p>
          <a:p>
            <a:endParaRPr lang="en-GB" dirty="0"/>
          </a:p>
        </p:txBody>
      </p:sp>
      <p:sp>
        <p:nvSpPr>
          <p:cNvPr id="4" name="Slide Number Placeholder 3"/>
          <p:cNvSpPr>
            <a:spLocks noGrp="1"/>
          </p:cNvSpPr>
          <p:nvPr>
            <p:ph type="sldNum" sz="quarter" idx="5"/>
          </p:nvPr>
        </p:nvSpPr>
        <p:spPr/>
        <p:txBody>
          <a:bodyPr/>
          <a:lstStyle/>
          <a:p>
            <a:fld id="{908FDF18-2084-40B0-A4EF-0D9C58494262}" type="slidenum">
              <a:rPr lang="en-GB" smtClean="0"/>
              <a:t>4</a:t>
            </a:fld>
            <a:endParaRPr lang="en-GB"/>
          </a:p>
        </p:txBody>
      </p:sp>
    </p:spTree>
    <p:extLst>
      <p:ext uri="{BB962C8B-B14F-4D97-AF65-F5344CB8AC3E}">
        <p14:creationId xmlns:p14="http://schemas.microsoft.com/office/powerpoint/2010/main" val="1380594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08FDF18-2084-40B0-A4EF-0D9C58494262}" type="slidenum">
              <a:rPr lang="en-GB" smtClean="0"/>
              <a:t>5</a:t>
            </a:fld>
            <a:endParaRPr lang="en-GB"/>
          </a:p>
        </p:txBody>
      </p:sp>
    </p:spTree>
    <p:extLst>
      <p:ext uri="{BB962C8B-B14F-4D97-AF65-F5344CB8AC3E}">
        <p14:creationId xmlns:p14="http://schemas.microsoft.com/office/powerpoint/2010/main" val="1013798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EBF54-294C-CC6A-9312-2098D57318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964843F-66F7-87D2-FF78-F6CC21851C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4B7127B-56B9-AE81-8D2B-72CBE189260B}"/>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5" name="Footer Placeholder 4">
            <a:extLst>
              <a:ext uri="{FF2B5EF4-FFF2-40B4-BE49-F238E27FC236}">
                <a16:creationId xmlns:a16="http://schemas.microsoft.com/office/drawing/2014/main" id="{9BD0ED26-B7F0-B0CA-4723-3617CE7D98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D0FC02-E191-6971-CA63-C7C1E3E9519C}"/>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2733328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A6A6-5414-8973-4534-C6F90085A2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C656945-60F7-189E-2B3A-7C1643E0A7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E4FDA76-8E8F-D53D-14AE-19F6D2C04DE3}"/>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5" name="Footer Placeholder 4">
            <a:extLst>
              <a:ext uri="{FF2B5EF4-FFF2-40B4-BE49-F238E27FC236}">
                <a16:creationId xmlns:a16="http://schemas.microsoft.com/office/drawing/2014/main" id="{06EF97A0-CA80-8A98-706D-35EF3B9E15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646103-663B-5E1B-D41E-BBDEE538170C}"/>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2644112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FD31E-75E9-81A1-DBA2-3021916D50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4624785-BC8A-9C91-E448-AD329BA16C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A93FCC-E530-6AE5-BE6E-028E17EB5013}"/>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5" name="Footer Placeholder 4">
            <a:extLst>
              <a:ext uri="{FF2B5EF4-FFF2-40B4-BE49-F238E27FC236}">
                <a16:creationId xmlns:a16="http://schemas.microsoft.com/office/drawing/2014/main" id="{3119C122-63A5-FE8B-8045-AA445FB9DA4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1DB14C-BFB1-A513-6FB3-9F6A1CCDDFF9}"/>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324464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5435C-13B8-4F91-A526-74451B84C65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E8DA333-652D-47D2-D2B6-30234AF6C3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88925DF-742B-0C3F-1012-0A73FF4069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F14A18B-C890-0048-9901-C1D56DD49482}"/>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6" name="Footer Placeholder 5">
            <a:extLst>
              <a:ext uri="{FF2B5EF4-FFF2-40B4-BE49-F238E27FC236}">
                <a16:creationId xmlns:a16="http://schemas.microsoft.com/office/drawing/2014/main" id="{92E64A47-A2CF-3A95-20A2-947FB44D514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5D7629-6EDE-49EA-DC91-B1E812FCBC30}"/>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4247520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DFC5-BA04-2000-43DB-C26D01E3458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4324741-F9DD-5338-E2AB-838219AA18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5299CE-1254-47F3-7930-0E7DBE22DE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E2F8ECA-1266-0BA8-6EE7-C4E92D801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1666C6-4114-9931-C0D9-0E48526751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8F354F4-6F8A-C43B-59ED-E4BB99B744CE}"/>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8" name="Footer Placeholder 7">
            <a:extLst>
              <a:ext uri="{FF2B5EF4-FFF2-40B4-BE49-F238E27FC236}">
                <a16:creationId xmlns:a16="http://schemas.microsoft.com/office/drawing/2014/main" id="{108F8092-1AC2-FB0A-F4F8-C2BB3C9E1F1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A2B0ABD-AE01-AC9A-8DF8-306478918370}"/>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1930257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8E066-33EE-013D-50A5-E81B4A0EB54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186855E-3C1C-8A3E-16AF-AFE1AF38247A}"/>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4" name="Footer Placeholder 3">
            <a:extLst>
              <a:ext uri="{FF2B5EF4-FFF2-40B4-BE49-F238E27FC236}">
                <a16:creationId xmlns:a16="http://schemas.microsoft.com/office/drawing/2014/main" id="{2DD40F33-B892-43DB-2EF7-2EC510B02CA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AB33B93-BCAD-4CA2-12AC-C40F38590077}"/>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2760166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47CF9F-448D-96AB-1D72-E42996636396}"/>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3" name="Footer Placeholder 2">
            <a:extLst>
              <a:ext uri="{FF2B5EF4-FFF2-40B4-BE49-F238E27FC236}">
                <a16:creationId xmlns:a16="http://schemas.microsoft.com/office/drawing/2014/main" id="{88A7B5B5-D251-8DA5-BF2C-802F0708128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8865BF2-ACD4-DD24-ED43-4A2A6005CE08}"/>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3522480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F3C53-9A6D-3AAC-4D3F-D9EF59597D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48B71EF-50B3-EF68-A2FC-C9957B883A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422A9C7-D0A6-47EF-5A9F-F2FD0EFAD5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F9FD08-5854-A54D-10E1-E0A9EE3ED5B2}"/>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6" name="Footer Placeholder 5">
            <a:extLst>
              <a:ext uri="{FF2B5EF4-FFF2-40B4-BE49-F238E27FC236}">
                <a16:creationId xmlns:a16="http://schemas.microsoft.com/office/drawing/2014/main" id="{69EDF0A8-52F0-8D53-99D6-39B6F63AA4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18FDB58-0A86-712F-6E14-601ACCC6A9E0}"/>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3747835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BD2BD-CF6D-C1B9-27AD-D773A978F7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8470B2B-9B44-AE94-28ED-51B7F066A8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6505E67-8630-B52A-7B85-D436FF50B2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B5DE3-1E14-09FC-BE90-FE538B165A00}"/>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6" name="Footer Placeholder 5">
            <a:extLst>
              <a:ext uri="{FF2B5EF4-FFF2-40B4-BE49-F238E27FC236}">
                <a16:creationId xmlns:a16="http://schemas.microsoft.com/office/drawing/2014/main" id="{B1D9AA0F-22A9-33C7-7124-0DD3BEBE9A3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9661698-618C-DD0D-7775-7F06BFB65D28}"/>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2798708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B76FE-2351-6D75-1A9A-55E7A438132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D0FFFA3-4056-A039-83A3-FA566CF394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5E7142-E2F5-F6AA-7DC4-DCD0069BE7A4}"/>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5" name="Footer Placeholder 4">
            <a:extLst>
              <a:ext uri="{FF2B5EF4-FFF2-40B4-BE49-F238E27FC236}">
                <a16:creationId xmlns:a16="http://schemas.microsoft.com/office/drawing/2014/main" id="{CE2FEB97-AED8-91EE-08FC-2993F11330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54BFCF-C959-3AFD-730C-91898F68E0E6}"/>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3105873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4E26DE-F970-4757-7E65-75E69047FF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E826D84-8088-DA6F-FBCE-053221B991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58B1B49-7431-5EF4-E633-CBD77306DF3E}"/>
              </a:ext>
            </a:extLst>
          </p:cNvPr>
          <p:cNvSpPr>
            <a:spLocks noGrp="1"/>
          </p:cNvSpPr>
          <p:nvPr>
            <p:ph type="dt" sz="half" idx="10"/>
          </p:nvPr>
        </p:nvSpPr>
        <p:spPr/>
        <p:txBody>
          <a:bodyPr/>
          <a:lstStyle/>
          <a:p>
            <a:fld id="{3628CFD4-C274-4D4B-A8FC-B31C42820DF8}" type="datetimeFigureOut">
              <a:rPr lang="en-GB" smtClean="0"/>
              <a:t>12/01/2026</a:t>
            </a:fld>
            <a:endParaRPr lang="en-GB"/>
          </a:p>
        </p:txBody>
      </p:sp>
      <p:sp>
        <p:nvSpPr>
          <p:cNvPr id="5" name="Footer Placeholder 4">
            <a:extLst>
              <a:ext uri="{FF2B5EF4-FFF2-40B4-BE49-F238E27FC236}">
                <a16:creationId xmlns:a16="http://schemas.microsoft.com/office/drawing/2014/main" id="{F12F549E-513F-983B-273C-96ADC0B0E2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55541D-1D79-DC4D-BB07-F82EA1D43570}"/>
              </a:ext>
            </a:extLst>
          </p:cNvPr>
          <p:cNvSpPr>
            <a:spLocks noGrp="1"/>
          </p:cNvSpPr>
          <p:nvPr>
            <p:ph type="sldNum" sz="quarter" idx="12"/>
          </p:nvPr>
        </p:nvSpPr>
        <p:spPr/>
        <p:txBody>
          <a:bodyPr/>
          <a:lstStyle/>
          <a:p>
            <a:fld id="{9D873D99-B55A-4E37-8D51-3376973BEDC3}" type="slidenum">
              <a:rPr lang="en-GB" smtClean="0"/>
              <a:t>‹#›</a:t>
            </a:fld>
            <a:endParaRPr lang="en-GB"/>
          </a:p>
        </p:txBody>
      </p:sp>
    </p:spTree>
    <p:extLst>
      <p:ext uri="{BB962C8B-B14F-4D97-AF65-F5344CB8AC3E}">
        <p14:creationId xmlns:p14="http://schemas.microsoft.com/office/powerpoint/2010/main" val="1379913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785C1-C989-B59F-263A-AA510C2248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E9F3983-F768-5B28-4837-087D1BC5C5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20E707B-E17B-A355-BD53-829CE3DE6F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28CFD4-C274-4D4B-A8FC-B31C42820DF8}" type="datetimeFigureOut">
              <a:rPr lang="en-GB" smtClean="0"/>
              <a:t>12/01/2026</a:t>
            </a:fld>
            <a:endParaRPr lang="en-GB"/>
          </a:p>
        </p:txBody>
      </p:sp>
      <p:sp>
        <p:nvSpPr>
          <p:cNvPr id="5" name="Footer Placeholder 4">
            <a:extLst>
              <a:ext uri="{FF2B5EF4-FFF2-40B4-BE49-F238E27FC236}">
                <a16:creationId xmlns:a16="http://schemas.microsoft.com/office/drawing/2014/main" id="{A6D871E0-FFAA-7C66-546E-5F67AA6FC2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6B1D7C3-FBB2-36B5-5053-5CD4FDB70E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873D99-B55A-4E37-8D51-3376973BEDC3}" type="slidenum">
              <a:rPr lang="en-GB" smtClean="0"/>
              <a:t>‹#›</a:t>
            </a:fld>
            <a:endParaRPr lang="en-GB"/>
          </a:p>
        </p:txBody>
      </p:sp>
    </p:spTree>
    <p:extLst>
      <p:ext uri="{BB962C8B-B14F-4D97-AF65-F5344CB8AC3E}">
        <p14:creationId xmlns:p14="http://schemas.microsoft.com/office/powerpoint/2010/main" val="3949502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gif"/></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Starling - BirdWatch Ireland">
            <a:extLst>
              <a:ext uri="{FF2B5EF4-FFF2-40B4-BE49-F238E27FC236}">
                <a16:creationId xmlns:a16="http://schemas.microsoft.com/office/drawing/2014/main" id="{591BA28F-1CEC-B857-EA22-51433F3700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725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Starling - BirdWatch Ireland">
            <a:extLst>
              <a:ext uri="{FF2B5EF4-FFF2-40B4-BE49-F238E27FC236}">
                <a16:creationId xmlns:a16="http://schemas.microsoft.com/office/drawing/2014/main" id="{39C3357C-9F06-2E7A-1AEE-9147002861A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598"/>
          <a:stretch>
            <a:fillRect/>
          </a:stretch>
        </p:blipFill>
        <p:spPr bwMode="auto">
          <a:xfrm flipH="1">
            <a:off x="8572500" y="0"/>
            <a:ext cx="1234568"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Starling - BirdWatch Ireland">
            <a:extLst>
              <a:ext uri="{FF2B5EF4-FFF2-40B4-BE49-F238E27FC236}">
                <a16:creationId xmlns:a16="http://schemas.microsoft.com/office/drawing/2014/main" id="{E08BD789-2AD5-60CD-94A9-DBC43A3F1F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598"/>
          <a:stretch>
            <a:fillRect/>
          </a:stretch>
        </p:blipFill>
        <p:spPr bwMode="auto">
          <a:xfrm>
            <a:off x="9807068" y="0"/>
            <a:ext cx="1234568" cy="6858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arling - BirdWatch Ireland">
            <a:extLst>
              <a:ext uri="{FF2B5EF4-FFF2-40B4-BE49-F238E27FC236}">
                <a16:creationId xmlns:a16="http://schemas.microsoft.com/office/drawing/2014/main" id="{083E659C-117B-F0EC-5306-FDC7DB3BF2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598"/>
          <a:stretch>
            <a:fillRect/>
          </a:stretch>
        </p:blipFill>
        <p:spPr bwMode="auto">
          <a:xfrm flipH="1">
            <a:off x="11041636" y="0"/>
            <a:ext cx="123456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376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Starling stock photo. Image of vulgaris, portrait, vertebrate - 66452684">
            <a:extLst>
              <a:ext uri="{FF2B5EF4-FFF2-40B4-BE49-F238E27FC236}">
                <a16:creationId xmlns:a16="http://schemas.microsoft.com/office/drawing/2014/main" id="{4DDCEBD1-264A-97DA-6BD8-E943D4DB7B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4040"/>
          <a:stretch>
            <a:fillRect/>
          </a:stretch>
        </p:blipFill>
        <p:spPr bwMode="auto">
          <a:xfrm flipH="1">
            <a:off x="8556314" y="100899"/>
            <a:ext cx="3507459" cy="3643620"/>
          </a:xfrm>
          <a:prstGeom prst="rect">
            <a:avLst/>
          </a:prstGeom>
          <a:noFill/>
          <a:extLst>
            <a:ext uri="{909E8E84-426E-40DD-AFC4-6F175D3DCCD1}">
              <a14:hiddenFill xmlns:a14="http://schemas.microsoft.com/office/drawing/2010/main">
                <a:solidFill>
                  <a:srgbClr val="FFFFFF"/>
                </a:solidFill>
              </a14:hiddenFill>
            </a:ext>
          </a:extLst>
        </p:spPr>
      </p:pic>
      <p:sp>
        <p:nvSpPr>
          <p:cNvPr id="5121" name="Title 1"/>
          <p:cNvSpPr>
            <a:spLocks noGrp="1"/>
          </p:cNvSpPr>
          <p:nvPr>
            <p:ph type="ctrTitle"/>
          </p:nvPr>
        </p:nvSpPr>
        <p:spPr>
          <a:xfrm>
            <a:off x="967740" y="2179955"/>
            <a:ext cx="9120478" cy="1690688"/>
          </a:xfrm>
        </p:spPr>
        <p:txBody>
          <a:bodyPr>
            <a:noAutofit/>
          </a:bodyPr>
          <a:lstStyle/>
          <a:p>
            <a:r>
              <a:rPr lang="en-GB" sz="4400" dirty="0"/>
              <a:t>WEEK 2: SYSTEM THINKING THROUGH SPECULATIVE DESIGN (STSD)</a:t>
            </a:r>
            <a:endParaRPr lang="en-GB" sz="4400" dirty="0">
              <a:latin typeface="Georgia" charset="0"/>
              <a:ea typeface="ＭＳ Ｐゴシック" charset="0"/>
              <a:cs typeface="ＭＳ Ｐゴシック" charset="0"/>
            </a:endParaRPr>
          </a:p>
        </p:txBody>
      </p:sp>
      <p:sp>
        <p:nvSpPr>
          <p:cNvPr id="5122" name="Subtitle 2"/>
          <p:cNvSpPr>
            <a:spLocks noGrp="1"/>
          </p:cNvSpPr>
          <p:nvPr>
            <p:ph type="subTitle" idx="1"/>
          </p:nvPr>
        </p:nvSpPr>
        <p:spPr>
          <a:xfrm>
            <a:off x="1421787" y="4271213"/>
            <a:ext cx="8496300" cy="1944298"/>
          </a:xfrm>
        </p:spPr>
        <p:txBody>
          <a:bodyPr/>
          <a:lstStyle/>
          <a:p>
            <a:r>
              <a:rPr lang="en-US" sz="3200" dirty="0">
                <a:latin typeface="Arial" charset="0"/>
                <a:ea typeface="Arial" charset="0"/>
                <a:cs typeface="Arial" charset="0"/>
              </a:rPr>
              <a:t>COMP0184</a:t>
            </a:r>
          </a:p>
          <a:p>
            <a:r>
              <a:rPr lang="en-US" sz="2400" dirty="0">
                <a:latin typeface="Arial"/>
                <a:ea typeface="Arial" charset="0"/>
                <a:cs typeface="Arial"/>
              </a:rPr>
              <a:t>January 2025</a:t>
            </a:r>
          </a:p>
        </p:txBody>
      </p:sp>
    </p:spTree>
    <p:extLst>
      <p:ext uri="{BB962C8B-B14F-4D97-AF65-F5344CB8AC3E}">
        <p14:creationId xmlns:p14="http://schemas.microsoft.com/office/powerpoint/2010/main" val="1071301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C336D3-B0B8-19A7-A3A4-01BD3FEB4F40}"/>
              </a:ext>
            </a:extLst>
          </p:cNvPr>
          <p:cNvSpPr>
            <a:spLocks noGrp="1"/>
          </p:cNvSpPr>
          <p:nvPr>
            <p:ph type="sldNum" sz="quarter" idx="10"/>
          </p:nvPr>
        </p:nvSpPr>
        <p:spPr/>
        <p:txBody>
          <a:bodyPr/>
          <a:lstStyle/>
          <a:p>
            <a:fld id="{833E29D9-24DE-C44A-A986-BA664FBA761C}" type="slidenum">
              <a:rPr lang="en-US" smtClean="0">
                <a:solidFill>
                  <a:srgbClr val="000000"/>
                </a:solidFill>
              </a:rPr>
              <a:pPr/>
              <a:t>3</a:t>
            </a:fld>
            <a:endParaRPr lang="en-US">
              <a:solidFill>
                <a:srgbClr val="000000"/>
              </a:solidFill>
            </a:endParaRPr>
          </a:p>
        </p:txBody>
      </p:sp>
      <p:pic>
        <p:nvPicPr>
          <p:cNvPr id="12" name="Picture 11">
            <a:extLst>
              <a:ext uri="{FF2B5EF4-FFF2-40B4-BE49-F238E27FC236}">
                <a16:creationId xmlns:a16="http://schemas.microsoft.com/office/drawing/2014/main" id="{DD4E8D76-C983-D6DE-1FB8-0CFE4A1C4F92}"/>
              </a:ext>
            </a:extLst>
          </p:cNvPr>
          <p:cNvPicPr>
            <a:picLocks noChangeAspect="1"/>
          </p:cNvPicPr>
          <p:nvPr/>
        </p:nvPicPr>
        <p:blipFill>
          <a:blip r:embed="rId2"/>
          <a:stretch>
            <a:fillRect/>
          </a:stretch>
        </p:blipFill>
        <p:spPr>
          <a:xfrm>
            <a:off x="3285242" y="1284669"/>
            <a:ext cx="5179657" cy="4288661"/>
          </a:xfrm>
          <a:prstGeom prst="rect">
            <a:avLst/>
          </a:prstGeom>
        </p:spPr>
      </p:pic>
      <p:sp>
        <p:nvSpPr>
          <p:cNvPr id="13" name="Subtitle 2">
            <a:extLst>
              <a:ext uri="{FF2B5EF4-FFF2-40B4-BE49-F238E27FC236}">
                <a16:creationId xmlns:a16="http://schemas.microsoft.com/office/drawing/2014/main" id="{B6118081-210A-6720-1960-40A83879D8B6}"/>
              </a:ext>
            </a:extLst>
          </p:cNvPr>
          <p:cNvSpPr txBox="1">
            <a:spLocks/>
          </p:cNvSpPr>
          <p:nvPr/>
        </p:nvSpPr>
        <p:spPr bwMode="auto">
          <a:xfrm>
            <a:off x="7586658" y="1650281"/>
            <a:ext cx="3544908" cy="1038402"/>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normAutofit/>
          </a:bodyPr>
          <a:lstStyle>
            <a:lvl1pPr marL="0" indent="0" algn="l" rtl="0" eaLnBrk="1" fontAlgn="base" hangingPunct="1">
              <a:spcBef>
                <a:spcPct val="20000"/>
              </a:spcBef>
              <a:spcAft>
                <a:spcPct val="0"/>
              </a:spcAft>
              <a:buFontTx/>
              <a:buNone/>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ea typeface="+mn-ea"/>
              </a:defRPr>
            </a:lvl2pPr>
            <a:lvl3pPr marL="1143000" indent="-228600" algn="l" rtl="0" eaLnBrk="1" fontAlgn="base" hangingPunct="1">
              <a:spcBef>
                <a:spcPct val="20000"/>
              </a:spcBef>
              <a:spcAft>
                <a:spcPct val="0"/>
              </a:spcAft>
              <a:buChar char="•"/>
              <a:defRPr sz="20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ctr"/>
            <a:r>
              <a:rPr lang="en-GB" dirty="0">
                <a:solidFill>
                  <a:prstClr val="black"/>
                </a:solidFill>
              </a:rPr>
              <a:t>How was your lecture?!</a:t>
            </a:r>
            <a:endParaRPr lang="en-GB" sz="3200" kern="0" dirty="0"/>
          </a:p>
          <a:p>
            <a:pPr algn="r"/>
            <a:endParaRPr lang="en-GB" sz="3200" kern="0" dirty="0"/>
          </a:p>
        </p:txBody>
      </p:sp>
    </p:spTree>
    <p:extLst>
      <p:ext uri="{BB962C8B-B14F-4D97-AF65-F5344CB8AC3E}">
        <p14:creationId xmlns:p14="http://schemas.microsoft.com/office/powerpoint/2010/main" val="332187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9A5D72-8F6A-11AD-634B-C2FE75ACF33B}"/>
              </a:ext>
            </a:extLst>
          </p:cNvPr>
          <p:cNvPicPr>
            <a:picLocks noChangeAspect="1"/>
          </p:cNvPicPr>
          <p:nvPr/>
        </p:nvPicPr>
        <p:blipFill>
          <a:blip r:embed="rId3"/>
          <a:stretch>
            <a:fillRect/>
          </a:stretch>
        </p:blipFill>
        <p:spPr>
          <a:xfrm>
            <a:off x="420062" y="1989187"/>
            <a:ext cx="6058211" cy="1339919"/>
          </a:xfrm>
          <a:prstGeom prst="rect">
            <a:avLst/>
          </a:prstGeom>
        </p:spPr>
      </p:pic>
      <p:sp>
        <p:nvSpPr>
          <p:cNvPr id="6" name="Title 4">
            <a:extLst>
              <a:ext uri="{FF2B5EF4-FFF2-40B4-BE49-F238E27FC236}">
                <a16:creationId xmlns:a16="http://schemas.microsoft.com/office/drawing/2014/main" id="{F1A8FC80-EBA2-E452-3A1F-4FD3A584162B}"/>
              </a:ext>
            </a:extLst>
          </p:cNvPr>
          <p:cNvSpPr>
            <a:spLocks noGrp="1"/>
          </p:cNvSpPr>
          <p:nvPr>
            <p:ph type="title"/>
          </p:nvPr>
        </p:nvSpPr>
        <p:spPr>
          <a:xfrm>
            <a:off x="838200" y="365125"/>
            <a:ext cx="10515600" cy="1325563"/>
          </a:xfrm>
        </p:spPr>
        <p:txBody>
          <a:bodyPr/>
          <a:lstStyle/>
          <a:p>
            <a:r>
              <a:rPr lang="en-GB" dirty="0"/>
              <a:t>COMPLEXITY SCIENCE</a:t>
            </a:r>
          </a:p>
        </p:txBody>
      </p:sp>
      <p:pic>
        <p:nvPicPr>
          <p:cNvPr id="1026" name="Picture 2" descr="The Art of Flying' Captures the Shape-Shifting Wonder of a Murmuration of  Starlings — Colossal">
            <a:extLst>
              <a:ext uri="{FF2B5EF4-FFF2-40B4-BE49-F238E27FC236}">
                <a16:creationId xmlns:a16="http://schemas.microsoft.com/office/drawing/2014/main" id="{D4FDB95B-5736-BA93-A411-4FB10452D2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5429" y="3627605"/>
            <a:ext cx="4487475" cy="25242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dge of chaos - chaos theory - compexity theory - where is the change?">
            <a:extLst>
              <a:ext uri="{FF2B5EF4-FFF2-40B4-BE49-F238E27FC236}">
                <a16:creationId xmlns:a16="http://schemas.microsoft.com/office/drawing/2014/main" id="{EC91304B-86F7-A74E-F738-FE3AAA7549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87666" y="1300281"/>
            <a:ext cx="3810000"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983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ADE0B-614B-1E14-66BC-EC98AD87FF10}"/>
            </a:ext>
          </a:extLst>
        </p:cNvPr>
        <p:cNvGrpSpPr/>
        <p:nvPr/>
      </p:nvGrpSpPr>
      <p:grpSpPr>
        <a:xfrm>
          <a:off x="0" y="0"/>
          <a:ext cx="0" cy="0"/>
          <a:chOff x="0" y="0"/>
          <a:chExt cx="0" cy="0"/>
        </a:xfrm>
      </p:grpSpPr>
      <p:sp>
        <p:nvSpPr>
          <p:cNvPr id="6" name="Title 4">
            <a:extLst>
              <a:ext uri="{FF2B5EF4-FFF2-40B4-BE49-F238E27FC236}">
                <a16:creationId xmlns:a16="http://schemas.microsoft.com/office/drawing/2014/main" id="{C4F1B9B8-93C7-5784-D51E-BEE85924DD56}"/>
              </a:ext>
            </a:extLst>
          </p:cNvPr>
          <p:cNvSpPr>
            <a:spLocks noGrp="1"/>
          </p:cNvSpPr>
          <p:nvPr>
            <p:ph type="title"/>
          </p:nvPr>
        </p:nvSpPr>
        <p:spPr>
          <a:xfrm>
            <a:off x="838200" y="365125"/>
            <a:ext cx="10515600" cy="1325563"/>
          </a:xfrm>
        </p:spPr>
        <p:txBody>
          <a:bodyPr/>
          <a:lstStyle/>
          <a:p>
            <a:r>
              <a:rPr lang="en-GB" dirty="0"/>
              <a:t>COMPLEXITY SCIENCE</a:t>
            </a:r>
          </a:p>
        </p:txBody>
      </p:sp>
      <p:pic>
        <p:nvPicPr>
          <p:cNvPr id="3" name="Picture 2">
            <a:extLst>
              <a:ext uri="{FF2B5EF4-FFF2-40B4-BE49-F238E27FC236}">
                <a16:creationId xmlns:a16="http://schemas.microsoft.com/office/drawing/2014/main" id="{B25A61C3-77FC-EF66-94CF-37E76B795BF7}"/>
              </a:ext>
            </a:extLst>
          </p:cNvPr>
          <p:cNvPicPr>
            <a:picLocks noChangeAspect="1"/>
          </p:cNvPicPr>
          <p:nvPr/>
        </p:nvPicPr>
        <p:blipFill>
          <a:blip r:embed="rId3"/>
          <a:stretch>
            <a:fillRect/>
          </a:stretch>
        </p:blipFill>
        <p:spPr>
          <a:xfrm>
            <a:off x="3247878" y="1353216"/>
            <a:ext cx="5696243" cy="5258070"/>
          </a:xfrm>
          <a:prstGeom prst="rect">
            <a:avLst/>
          </a:prstGeom>
        </p:spPr>
      </p:pic>
    </p:spTree>
    <p:extLst>
      <p:ext uri="{BB962C8B-B14F-4D97-AF65-F5344CB8AC3E}">
        <p14:creationId xmlns:p14="http://schemas.microsoft.com/office/powerpoint/2010/main" val="3766650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8B7DEE-9292-7847-0835-0429580E5896}"/>
              </a:ext>
            </a:extLst>
          </p:cNvPr>
          <p:cNvSpPr>
            <a:spLocks noGrp="1"/>
          </p:cNvSpPr>
          <p:nvPr>
            <p:ph type="title"/>
          </p:nvPr>
        </p:nvSpPr>
        <p:spPr/>
        <p:txBody>
          <a:bodyPr/>
          <a:lstStyle/>
          <a:p>
            <a:r>
              <a:rPr lang="en-GB" dirty="0"/>
              <a:t>AIMS FOR TODAY</a:t>
            </a:r>
          </a:p>
        </p:txBody>
      </p:sp>
      <p:sp>
        <p:nvSpPr>
          <p:cNvPr id="6" name="Content Placeholder 5">
            <a:extLst>
              <a:ext uri="{FF2B5EF4-FFF2-40B4-BE49-F238E27FC236}">
                <a16:creationId xmlns:a16="http://schemas.microsoft.com/office/drawing/2014/main" id="{BB576E73-C4CF-2329-7330-4CC4ADEBB2A4}"/>
              </a:ext>
            </a:extLst>
          </p:cNvPr>
          <p:cNvSpPr>
            <a:spLocks noGrp="1"/>
          </p:cNvSpPr>
          <p:nvPr>
            <p:ph idx="1"/>
          </p:nvPr>
        </p:nvSpPr>
        <p:spPr>
          <a:xfrm>
            <a:off x="838200" y="2039818"/>
            <a:ext cx="7436224" cy="3457575"/>
          </a:xfrm>
        </p:spPr>
        <p:txBody>
          <a:bodyPr/>
          <a:lstStyle/>
          <a:p>
            <a:pPr marL="514350" indent="-514350">
              <a:buFont typeface="+mj-lt"/>
              <a:buAutoNum type="arabicPeriod"/>
            </a:pPr>
            <a:r>
              <a:rPr lang="en-GB" dirty="0"/>
              <a:t>Dynamical systems</a:t>
            </a:r>
          </a:p>
          <a:p>
            <a:pPr marL="514350" indent="-514350">
              <a:buFont typeface="+mj-lt"/>
              <a:buAutoNum type="arabicPeriod"/>
            </a:pPr>
            <a:r>
              <a:rPr lang="en-GB" dirty="0"/>
              <a:t>Modelling</a:t>
            </a:r>
          </a:p>
          <a:p>
            <a:pPr marL="514350" indent="-514350">
              <a:buFont typeface="+mj-lt"/>
              <a:buAutoNum type="arabicPeriod"/>
            </a:pPr>
            <a:r>
              <a:rPr lang="en-GB" dirty="0"/>
              <a:t>Analysing</a:t>
            </a:r>
          </a:p>
          <a:p>
            <a:pPr marL="514350" indent="-514350">
              <a:buFont typeface="+mj-lt"/>
              <a:buAutoNum type="arabicPeriod"/>
            </a:pPr>
            <a:r>
              <a:rPr lang="en-GB" dirty="0"/>
              <a:t>Systems with a small number of variables</a:t>
            </a:r>
          </a:p>
        </p:txBody>
      </p:sp>
      <p:sp>
        <p:nvSpPr>
          <p:cNvPr id="4" name="Slide Number Placeholder 3">
            <a:extLst>
              <a:ext uri="{FF2B5EF4-FFF2-40B4-BE49-F238E27FC236}">
                <a16:creationId xmlns:a16="http://schemas.microsoft.com/office/drawing/2014/main" id="{128A6A02-C97A-F774-D6EF-04BDF8AE3FAC}"/>
              </a:ext>
            </a:extLst>
          </p:cNvPr>
          <p:cNvSpPr>
            <a:spLocks noGrp="1"/>
          </p:cNvSpPr>
          <p:nvPr>
            <p:ph type="sldNum" sz="quarter" idx="10"/>
          </p:nvPr>
        </p:nvSpPr>
        <p:spPr/>
        <p:txBody>
          <a:bodyPr/>
          <a:lstStyle/>
          <a:p>
            <a:fld id="{833E29D9-24DE-C44A-A986-BA664FBA761C}" type="slidenum">
              <a:rPr lang="en-US" smtClean="0">
                <a:solidFill>
                  <a:srgbClr val="000000"/>
                </a:solidFill>
              </a:rPr>
              <a:pPr/>
              <a:t>6</a:t>
            </a:fld>
            <a:endParaRPr lang="en-US">
              <a:solidFill>
                <a:srgbClr val="000000"/>
              </a:solidFill>
            </a:endParaRPr>
          </a:p>
        </p:txBody>
      </p:sp>
    </p:spTree>
    <p:extLst>
      <p:ext uri="{BB962C8B-B14F-4D97-AF65-F5344CB8AC3E}">
        <p14:creationId xmlns:p14="http://schemas.microsoft.com/office/powerpoint/2010/main" val="532432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F44BF6F-DF13-7239-3819-BDD268CBCA2C}"/>
              </a:ext>
            </a:extLst>
          </p:cNvPr>
          <p:cNvSpPr>
            <a:spLocks noGrp="1"/>
          </p:cNvSpPr>
          <p:nvPr>
            <p:ph type="title"/>
          </p:nvPr>
        </p:nvSpPr>
        <p:spPr>
          <a:xfrm>
            <a:off x="555430" y="687179"/>
            <a:ext cx="10515600" cy="2852737"/>
          </a:xfrm>
        </p:spPr>
        <p:txBody>
          <a:bodyPr>
            <a:normAutofit/>
          </a:bodyPr>
          <a:lstStyle/>
          <a:p>
            <a:pPr algn="ctr"/>
            <a:r>
              <a:rPr lang="en-US" dirty="0"/>
              <a:t>D</a:t>
            </a:r>
            <a:r>
              <a:rPr lang="en-GB" dirty="0"/>
              <a:t>YNAMICAL SYSTEMS</a:t>
            </a:r>
          </a:p>
        </p:txBody>
      </p:sp>
      <p:sp>
        <p:nvSpPr>
          <p:cNvPr id="4" name="Slide Number Placeholder 3">
            <a:extLst>
              <a:ext uri="{FF2B5EF4-FFF2-40B4-BE49-F238E27FC236}">
                <a16:creationId xmlns:a16="http://schemas.microsoft.com/office/drawing/2014/main" id="{A9AA77FF-589A-0C58-A530-B0E7AC7A575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3E29D9-24DE-C44A-A986-BA664FBA761C}" type="slidenum">
              <a:rPr kumimoji="0" lang="en-US" sz="1400" b="0" i="0" u="none" strike="noStrike" kern="1200" cap="none" spc="0" normalizeH="0" baseline="0" noProof="0" smtClean="0">
                <a:ln>
                  <a:noFill/>
                </a:ln>
                <a:solidFill>
                  <a:srgbClr val="000000"/>
                </a:solidFill>
                <a:effectLst/>
                <a:uLnTx/>
                <a:uFillTx/>
                <a:latin typeface="Arial"/>
                <a:ea typeface="ＭＳ Ｐゴシック"/>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000000"/>
              </a:solidFill>
              <a:effectLst/>
              <a:uLnTx/>
              <a:uFillTx/>
              <a:latin typeface="Arial"/>
              <a:ea typeface="ＭＳ Ｐゴシック"/>
              <a:cs typeface="+mn-cs"/>
            </a:endParaRPr>
          </a:p>
        </p:txBody>
      </p:sp>
      <p:pic>
        <p:nvPicPr>
          <p:cNvPr id="2" name="Picture 1">
            <a:extLst>
              <a:ext uri="{FF2B5EF4-FFF2-40B4-BE49-F238E27FC236}">
                <a16:creationId xmlns:a16="http://schemas.microsoft.com/office/drawing/2014/main" id="{F5E6D601-7FD3-6EFA-73BF-174EFF560476}"/>
              </a:ext>
            </a:extLst>
          </p:cNvPr>
          <p:cNvPicPr>
            <a:picLocks noChangeAspect="1"/>
          </p:cNvPicPr>
          <p:nvPr/>
        </p:nvPicPr>
        <p:blipFill>
          <a:blip r:embed="rId2"/>
          <a:stretch>
            <a:fillRect/>
          </a:stretch>
        </p:blipFill>
        <p:spPr>
          <a:xfrm>
            <a:off x="8744033" y="1703442"/>
            <a:ext cx="3023165" cy="2503125"/>
          </a:xfrm>
          <a:prstGeom prst="rect">
            <a:avLst/>
          </a:prstGeom>
        </p:spPr>
      </p:pic>
    </p:spTree>
    <p:extLst>
      <p:ext uri="{BB962C8B-B14F-4D97-AF65-F5344CB8AC3E}">
        <p14:creationId xmlns:p14="http://schemas.microsoft.com/office/powerpoint/2010/main" val="2439143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383E6-8DCC-1F41-26E2-99C9C21E19A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54374D-ED8A-2E2E-D926-64A5F7C77E3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3E29D9-24DE-C44A-A986-BA664FBA761C}" type="slidenum">
              <a:rPr kumimoji="0" lang="en-US" sz="1400" b="0" i="0" u="none" strike="noStrike" kern="1200" cap="none" spc="0" normalizeH="0" baseline="0" noProof="0" smtClean="0">
                <a:ln>
                  <a:noFill/>
                </a:ln>
                <a:solidFill>
                  <a:srgbClr val="000000"/>
                </a:solidFill>
                <a:effectLst/>
                <a:uLnTx/>
                <a:uFillTx/>
                <a:latin typeface="Arial"/>
                <a:ea typeface="ＭＳ Ｐゴシック"/>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000000"/>
              </a:solidFill>
              <a:effectLst/>
              <a:uLnTx/>
              <a:uFillTx/>
              <a:latin typeface="Arial"/>
              <a:ea typeface="ＭＳ Ｐゴシック"/>
              <a:cs typeface="+mn-cs"/>
            </a:endParaRPr>
          </a:p>
        </p:txBody>
      </p:sp>
      <p:sp>
        <p:nvSpPr>
          <p:cNvPr id="5" name="Title 4">
            <a:extLst>
              <a:ext uri="{FF2B5EF4-FFF2-40B4-BE49-F238E27FC236}">
                <a16:creationId xmlns:a16="http://schemas.microsoft.com/office/drawing/2014/main" id="{E815DFFB-6810-EB7A-86E9-E167A33BB2CF}"/>
              </a:ext>
            </a:extLst>
          </p:cNvPr>
          <p:cNvSpPr>
            <a:spLocks noGrp="1"/>
          </p:cNvSpPr>
          <p:nvPr>
            <p:ph type="title"/>
          </p:nvPr>
        </p:nvSpPr>
        <p:spPr>
          <a:xfrm>
            <a:off x="4464269" y="2629053"/>
            <a:ext cx="3768085" cy="1325563"/>
          </a:xfrm>
        </p:spPr>
        <p:txBody>
          <a:bodyPr/>
          <a:lstStyle/>
          <a:p>
            <a:r>
              <a:rPr lang="en-GB" dirty="0"/>
              <a:t>QUESTIONS?</a:t>
            </a:r>
          </a:p>
        </p:txBody>
      </p:sp>
      <p:pic>
        <p:nvPicPr>
          <p:cNvPr id="11266" name="Picture 2" descr="Starling bird front view full body isolate on transparent background  53815046 PNG">
            <a:extLst>
              <a:ext uri="{FF2B5EF4-FFF2-40B4-BE49-F238E27FC236}">
                <a16:creationId xmlns:a16="http://schemas.microsoft.com/office/drawing/2014/main" id="{1C066153-DA8A-7246-F310-12CB51D8B8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9977" y="1098816"/>
            <a:ext cx="3773661" cy="3773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823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faf88fe-a998-4c5b-93c9-210a11d9a5c2}" enabled="0" method="" siteId="{1faf88fe-a998-4c5b-93c9-210a11d9a5c2}" removed="1"/>
</clbl:labelList>
</file>

<file path=docProps/app.xml><?xml version="1.0" encoding="utf-8"?>
<Properties xmlns="http://schemas.openxmlformats.org/officeDocument/2006/extended-properties" xmlns:vt="http://schemas.openxmlformats.org/officeDocument/2006/docPropsVTypes">
  <TotalTime>15553</TotalTime>
  <Words>612</Words>
  <Application>Microsoft Office PowerPoint</Application>
  <PresentationFormat>Widescreen</PresentationFormat>
  <Paragraphs>41</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Georgia</vt:lpstr>
      <vt:lpstr>Office Theme</vt:lpstr>
      <vt:lpstr>PowerPoint Presentation</vt:lpstr>
      <vt:lpstr>WEEK 2: SYSTEM THINKING THROUGH SPECULATIVE DESIGN (STSD)</vt:lpstr>
      <vt:lpstr>PowerPoint Presentation</vt:lpstr>
      <vt:lpstr>COMPLEXITY SCIENCE</vt:lpstr>
      <vt:lpstr>COMPLEXITY SCIENCE</vt:lpstr>
      <vt:lpstr>AIMS FOR TODAY</vt:lpstr>
      <vt:lpstr>DYNAMICAL SYSTEMS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Gatti, Elia</dc:creator>
  <cp:lastModifiedBy>Gatti, Elia</cp:lastModifiedBy>
  <cp:revision>4</cp:revision>
  <dcterms:created xsi:type="dcterms:W3CDTF">2025-12-21T21:27:56Z</dcterms:created>
  <dcterms:modified xsi:type="dcterms:W3CDTF">2026-01-13T15:10:17Z</dcterms:modified>
</cp:coreProperties>
</file>