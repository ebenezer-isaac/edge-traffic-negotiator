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1760" r:id="rId2"/>
    <p:sldId id="307" r:id="rId3"/>
    <p:sldId id="1805" r:id="rId4"/>
    <p:sldId id="1815" r:id="rId5"/>
    <p:sldId id="1806" r:id="rId6"/>
    <p:sldId id="1816" r:id="rId7"/>
    <p:sldId id="1823" r:id="rId8"/>
    <p:sldId id="1824" r:id="rId9"/>
    <p:sldId id="1817" r:id="rId10"/>
    <p:sldId id="1818" r:id="rId11"/>
    <p:sldId id="1825" r:id="rId12"/>
    <p:sldId id="1828" r:id="rId13"/>
    <p:sldId id="1826" r:id="rId14"/>
    <p:sldId id="1829" r:id="rId15"/>
    <p:sldId id="1819" r:id="rId16"/>
    <p:sldId id="1820" r:id="rId17"/>
    <p:sldId id="1830" r:id="rId18"/>
    <p:sldId id="368" r:id="rId19"/>
    <p:sldId id="322" r:id="rId20"/>
    <p:sldId id="369" r:id="rId21"/>
    <p:sldId id="323" r:id="rId22"/>
    <p:sldId id="324" r:id="rId23"/>
    <p:sldId id="325" r:id="rId24"/>
    <p:sldId id="1831" r:id="rId25"/>
    <p:sldId id="1832" r:id="rId26"/>
    <p:sldId id="1833" r:id="rId27"/>
    <p:sldId id="1834" r:id="rId28"/>
    <p:sldId id="1836" r:id="rId29"/>
    <p:sldId id="1835" r:id="rId30"/>
    <p:sldId id="1837" r:id="rId31"/>
    <p:sldId id="1839" r:id="rId32"/>
    <p:sldId id="1838" r:id="rId33"/>
    <p:sldId id="1840" r:id="rId34"/>
    <p:sldId id="1841" r:id="rId35"/>
    <p:sldId id="1842" r:id="rId36"/>
    <p:sldId id="1822" r:id="rId37"/>
    <p:sldId id="1855" r:id="rId38"/>
    <p:sldId id="1856" r:id="rId39"/>
    <p:sldId id="1857" r:id="rId40"/>
    <p:sldId id="1858" r:id="rId41"/>
    <p:sldId id="1861" r:id="rId42"/>
    <p:sldId id="1862" r:id="rId43"/>
    <p:sldId id="1859" r:id="rId44"/>
    <p:sldId id="1860" r:id="rId45"/>
    <p:sldId id="1767" r:id="rId46"/>
    <p:sldId id="1843" r:id="rId47"/>
    <p:sldId id="1844" r:id="rId48"/>
    <p:sldId id="1845" r:id="rId49"/>
    <p:sldId id="1846" r:id="rId50"/>
    <p:sldId id="1847" r:id="rId51"/>
    <p:sldId id="1848" r:id="rId52"/>
    <p:sldId id="1853" r:id="rId53"/>
    <p:sldId id="1849" r:id="rId54"/>
    <p:sldId id="1850" r:id="rId55"/>
    <p:sldId id="1851" r:id="rId56"/>
    <p:sldId id="1852" r:id="rId57"/>
    <p:sldId id="1854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D14C"/>
    <a:srgbClr val="FFF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61006" autoAdjust="0"/>
  </p:normalViewPr>
  <p:slideViewPr>
    <p:cSldViewPr snapToGrid="0">
      <p:cViewPr>
        <p:scale>
          <a:sx n="50" d="100"/>
          <a:sy n="50" d="100"/>
        </p:scale>
        <p:origin x="2200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49BF8A-3DDD-4232-9C5C-CB9AC9ECE8E9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FDF18-2084-40B0-A4EF-0D9C584942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232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ogistic_map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in depth understanding of emerging user interfaces and technologies.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1161E2-6868-7E46-B1B1-63F571E7A2ED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598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this equation is </a:t>
                </a:r>
                <a:r>
                  <a:rPr lang="en-GB" b="1" dirty="0"/>
                  <a:t>linear</a:t>
                </a:r>
                <a:r>
                  <a:rPr lang="en-GB" dirty="0"/>
                  <a:t>. Linearity means two things:</a:t>
                </a:r>
              </a:p>
              <a:p>
                <a:r>
                  <a:rPr lang="en-GB" b="1" dirty="0"/>
                  <a:t>Additivity</a:t>
                </a:r>
                <a:br>
                  <a:rPr lang="en-GB" dirty="0"/>
                </a:br>
                <a:r>
                  <a:rPr lang="en-GB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are solutions, then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is also a solution.</a:t>
                </a:r>
              </a:p>
              <a:p>
                <a:r>
                  <a:rPr lang="en-GB" b="1" dirty="0"/>
                  <a:t>Homogeneity (scaling)</a:t>
                </a:r>
                <a:br>
                  <a:rPr lang="en-GB" dirty="0"/>
                </a:br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is a solution, then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r>
                      <m:rPr>
                        <m:nor/>
                      </m:rPr>
                      <a:rPr lang="en-GB" sz="1200" b="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 </m:t>
                    </m:r>
                    <m:r>
                      <a:rPr lang="en-GB" sz="12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d>
                      <m:dPr>
                        <m:ctrlPr>
                          <a:rPr lang="ar-AE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is also a solution for any constant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his equation is </a:t>
                </a:r>
                <a:r>
                  <a:rPr lang="en-GB" b="1" dirty="0"/>
                  <a:t>linear</a:t>
                </a:r>
                <a:r>
                  <a:rPr lang="en-GB" dirty="0"/>
                  <a:t>. Linearity means two things:</a:t>
                </a:r>
              </a:p>
              <a:p>
                <a:r>
                  <a:rPr lang="en-GB" b="1" dirty="0"/>
                  <a:t>Additivity</a:t>
                </a:r>
                <a:br>
                  <a:rPr lang="en-GB" dirty="0"/>
                </a:br>
                <a:r>
                  <a:rPr lang="en-GB" dirty="0"/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𝑥_1 (𝑡)</a:t>
                </a:r>
                <a:r>
                  <a:rPr lang="en-GB" dirty="0"/>
                  <a:t>and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𝑥_2 (𝑡)</a:t>
                </a:r>
                <a:r>
                  <a:rPr lang="en-GB" dirty="0"/>
                  <a:t>are solutions, then</a:t>
                </a:r>
                <a:br>
                  <a:rPr lang="en-GB" dirty="0"/>
                </a:b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𝑥_1 (𝑡)+𝑥_2 (𝑡)</a:t>
                </a:r>
                <a:r>
                  <a:rPr lang="en-GB" dirty="0"/>
                  <a:t>is also a solution.</a:t>
                </a:r>
              </a:p>
              <a:p>
                <a:r>
                  <a:rPr lang="en-GB" b="1" dirty="0"/>
                  <a:t>Homogeneity (scaling)</a:t>
                </a:r>
                <a:br>
                  <a:rPr lang="en-GB" dirty="0"/>
                </a:br>
                <a:r>
                  <a:rPr lang="en-GB" dirty="0"/>
                  <a:t>If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(𝑡)</a:t>
                </a:r>
                <a:r>
                  <a:rPr lang="en-GB" dirty="0"/>
                  <a:t>is a solution, then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 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𝑥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(𝑡)</a:t>
                </a:r>
                <a:r>
                  <a:rPr lang="en-GB" dirty="0"/>
                  <a:t>is also a solution for any constant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9810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D95A5-CBEC-CA37-2EA4-068319CBA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57E36-42A9-8E2B-CEC3-C35F4B81E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7B4E8-65CD-11E7-B360-43006A522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6E7F3-0BCC-9E52-61E3-A1C286A6B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726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07F0A-5EB8-7442-0E9E-9825992C8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56926-FEC7-DB4F-6D3D-02F3BF297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14932-355F-6CE2-3EA1-51272C461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type of diagram is called a causal loop diagram in System Dynamics. Each circle, or node, in this diagram represents a state variable in the system. The self-loop arrow attached to each node represents the effect of the variables on itself (e.g., the more prey there are, the faster their growth will be, etc.). The plus/minus signs next to the arrows show whether the effect is positive or negative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3C7CB-CB28-92D5-7ABE-8F0A9DFAD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84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How do variables behave?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7676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32C5F-CEFE-1016-E1C3-E09898F0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69DBCE-0050-7B39-DDC6-30DB0913D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02CAF-9224-1C62-110D-652F789F4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How do variables INTERACT?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8966F-0FB5-59BA-2A44-FFFCC78D6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983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B0126-B673-FA68-9A3C-AB2F952F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7C48D-C432-4860-2861-7966254B0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40775-D1F4-C157-6807-C06B027FB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How do variables interact?</a:t>
            </a:r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CC920-CE06-6613-009D-9600CDB43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6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76ECE-7920-D4BF-B705-78CA4034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D283C-5ED5-E440-B2EF-11DFB252F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389C2-EA7C-DB1F-4AEB-C6A16396B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Here, we used the logistic growth model for the prey (x). This formula has two terms on its right hand side: the current population size (xt−1) and the number of newborns (rxt−1(· · ·)). If x is much smaller than K, the value inside the parentheses gets closer to 1. </a:t>
            </a:r>
            <a:r>
              <a:rPr lang="en-GB" dirty="0" err="1"/>
              <a:t>rx</a:t>
            </a:r>
            <a:r>
              <a:rPr lang="en-GB" dirty="0"/>
              <a:t> is the growth rate of the prey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We used the exponential decay model for the predators (y). </a:t>
            </a:r>
            <a:r>
              <a:rPr lang="en-GB" dirty="0" err="1"/>
              <a:t>dy</a:t>
            </a:r>
            <a:r>
              <a:rPr lang="en-GB" dirty="0"/>
              <a:t> is the death rate of the predators (0 &lt; </a:t>
            </a:r>
            <a:r>
              <a:rPr lang="en-GB" dirty="0" err="1"/>
              <a:t>dy</a:t>
            </a:r>
            <a:r>
              <a:rPr lang="en-GB" dirty="0"/>
              <a:t> &lt; 1).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FC082-6B0B-FACC-D9C8-EFD1720D6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398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7246F-9034-B1DB-0388-E8F6D19C4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B9106-BE0E-384A-3FC8-A1579C5E4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CE10F-EA6C-8EA8-2254-210F72C69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39509-99FA-B8B2-C8D9-900B36960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818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BF62B-A00D-7D25-DE62-C8B581239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B1E4-91D3-7ED8-B8B8-3F65450A3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26241-25B1-FF43-74E9-1356436E4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72515-227F-7117-D771-5689E8128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2694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8781D-5EBB-06A5-376D-3CCF6DEA9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62842-127B-915A-B9DA-0831169F5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F6C3B-603F-C9F4-106A-0AF5F56A2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DB5D2-BCEE-754A-22D0-BE245F4DF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064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53B9D-A216-D319-98FD-ED1E43161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49998-E47E-D350-7D14-CCA8360D1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1718A-D5A6-DDE1-B790-8C6BE421D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013EF-2199-9BB3-E628-323AE1FBA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012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F560E-11AA-0706-6B1E-7211BA95D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D79F0-66F7-09BC-17D9-A51A3574C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77BF3-01AE-7221-1B30-C6A6B13D5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F4198-00DC-0806-94F7-F8238E5A3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038CB-D600-4BF0-9CFC-788EB74D107E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8403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br>
              <a:rPr lang="en-GB" b="0" i="0" dirty="0">
                <a:solidFill>
                  <a:srgbClr val="0D0D0D"/>
                </a:solidFill>
                <a:effectLst/>
                <a:latin typeface="Söhne"/>
              </a:rPr>
            </a:b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Cobweb plots are a graphical method used to visualize the iterative process of dynamical systems, particularly those defined by discrete-time, one-dimensional recurrence relations. They help in understanding the </a:t>
            </a:r>
            <a:r>
              <a:rPr lang="en-GB" b="0" i="0" dirty="0" err="1">
                <a:solidFill>
                  <a:srgbClr val="0D0D0D"/>
                </a:solidFill>
                <a:effectLst/>
                <a:latin typeface="Söhne"/>
              </a:rPr>
              <a:t>behavior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of sequences generated by such systems as they evolve over time. Cobweb plots are drawn by plotting the function defining the recurrence relation on the same graph as the line </a:t>
            </a:r>
            <a:r>
              <a:rPr lang="en-GB" b="0" i="1" dirty="0">
                <a:solidFill>
                  <a:srgbClr val="0D0D0D"/>
                </a:solidFill>
                <a:effectLst/>
                <a:latin typeface="KaTeX_Math"/>
              </a:rPr>
              <a:t>y</a:t>
            </a:r>
            <a:r>
              <a:rPr lang="en-GB" b="0" i="0" dirty="0">
                <a:solidFill>
                  <a:srgbClr val="0D0D0D"/>
                </a:solidFill>
                <a:effectLst/>
                <a:latin typeface="KaTeX_Main"/>
              </a:rPr>
              <a:t>=</a:t>
            </a:r>
            <a:r>
              <a:rPr lang="en-GB" b="0" i="1" dirty="0">
                <a:solidFill>
                  <a:srgbClr val="0D0D0D"/>
                </a:solidFill>
                <a:effectLst/>
                <a:latin typeface="KaTeX_Math"/>
              </a:rPr>
              <a:t>x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, and then iterating the following steps from a given initial value:</a:t>
            </a:r>
          </a:p>
          <a:p>
            <a:pPr algn="l">
              <a:buFont typeface="+mj-lt"/>
              <a:buAutoNum type="arabicPeriod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From a point on the </a:t>
            </a:r>
            <a:r>
              <a:rPr lang="en-GB" b="0" i="1" dirty="0">
                <a:solidFill>
                  <a:srgbClr val="0D0D0D"/>
                </a:solidFill>
                <a:effectLst/>
                <a:latin typeface="KaTeX_Math"/>
              </a:rPr>
              <a:t>x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-axis, draw a vertical line up to the function curve. (</a:t>
            </a:r>
            <a:r>
              <a:rPr lang="en-GB" dirty="0"/>
              <a:t>The</a:t>
            </a:r>
            <a:r>
              <a:rPr lang="en-GB" b="0" dirty="0"/>
              <a:t> curve is just the graph of the function you’re iterating.)</a:t>
            </a:r>
            <a:endParaRPr lang="en-GB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From this point on the curve, draw a horizontal line to the </a:t>
            </a:r>
            <a:r>
              <a:rPr lang="en-GB" b="0" i="1" dirty="0">
                <a:solidFill>
                  <a:srgbClr val="0D0D0D"/>
                </a:solidFill>
                <a:effectLst/>
                <a:latin typeface="KaTeX_Math"/>
              </a:rPr>
              <a:t>y</a:t>
            </a:r>
            <a:r>
              <a:rPr lang="en-GB" b="0" i="0" dirty="0">
                <a:solidFill>
                  <a:srgbClr val="0D0D0D"/>
                </a:solidFill>
                <a:effectLst/>
                <a:latin typeface="KaTeX_Main"/>
              </a:rPr>
              <a:t>=</a:t>
            </a:r>
            <a:r>
              <a:rPr lang="en-GB" b="0" i="1" dirty="0">
                <a:solidFill>
                  <a:srgbClr val="0D0D0D"/>
                </a:solidFill>
                <a:effectLst/>
                <a:latin typeface="KaTeX_Math"/>
              </a:rPr>
              <a:t>x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line.</a:t>
            </a:r>
          </a:p>
          <a:p>
            <a:pPr algn="l">
              <a:buFont typeface="+mj-lt"/>
              <a:buAutoNum type="arabicPeriod"/>
            </a:pP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Repeat the process by drawing another vertical line from this new point back to the function curve, and so on.</a:t>
            </a:r>
          </a:p>
          <a:p>
            <a:pPr algn="l"/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This process creates a "cobweb" pattern of lines that visually demonstrates how the value of the variable evolves over successive iterations. Cobweb plots are particularly useful for </a:t>
            </a:r>
            <a:r>
              <a:rPr lang="en-GB" b="0" i="0" dirty="0" err="1">
                <a:solidFill>
                  <a:srgbClr val="0D0D0D"/>
                </a:solidFill>
                <a:effectLst/>
                <a:latin typeface="Söhne"/>
              </a:rPr>
              <a:t>analyzing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the convergence or divergence of sequences, identifying fixed points (where the curve intersects the </a:t>
            </a:r>
            <a:r>
              <a:rPr lang="en-GB" b="0" i="1" dirty="0">
                <a:solidFill>
                  <a:srgbClr val="0D0D0D"/>
                </a:solidFill>
                <a:effectLst/>
                <a:latin typeface="KaTeX_Math"/>
              </a:rPr>
              <a:t>y</a:t>
            </a:r>
            <a:r>
              <a:rPr lang="en-GB" b="0" i="0" dirty="0">
                <a:solidFill>
                  <a:srgbClr val="0D0D0D"/>
                </a:solidFill>
                <a:effectLst/>
                <a:latin typeface="KaTeX_Main"/>
              </a:rPr>
              <a:t>=</a:t>
            </a:r>
            <a:r>
              <a:rPr lang="en-GB" b="0" i="1" dirty="0">
                <a:solidFill>
                  <a:srgbClr val="0D0D0D"/>
                </a:solidFill>
                <a:effectLst/>
                <a:latin typeface="KaTeX_Math"/>
              </a:rPr>
              <a:t>x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line), and exploring the stability of these points. They provide a simple yet powerful tool for visualizing the dynamics of nonlinear systems in a two-dimensional space, making complex </a:t>
            </a:r>
            <a:r>
              <a:rPr lang="en-GB" b="0" i="0" dirty="0" err="1">
                <a:solidFill>
                  <a:srgbClr val="0D0D0D"/>
                </a:solidFill>
                <a:effectLst/>
                <a:latin typeface="Söhne"/>
              </a:rPr>
              <a:t>behaviors</a:t>
            </a:r>
            <a:r>
              <a:rPr lang="en-GB" b="0" i="0" dirty="0">
                <a:solidFill>
                  <a:srgbClr val="0D0D0D"/>
                </a:solidFill>
                <a:effectLst/>
                <a:latin typeface="Söhne"/>
              </a:rPr>
              <a:t> such as cycles and chaos more accessible and understandable.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8903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code below generates a cobweb plot for the 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3"/>
                  </a:rPr>
                  <a:t>logistic map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 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𝑟𝑥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With a chosen starting value of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0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.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5</m:t>
                    </m:r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both stable and chaotic behaviour is observed for different values of 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𝑟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en-GB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code below generates a cobweb plot for the 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3"/>
                  </a:rPr>
                  <a:t>logistic map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 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(𝑥)=𝑟𝑥(1−𝑥)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With a chosen starting value of 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𝑥_0=0.5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both stable and chaotic behaviour is observed for different values of 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411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7281F-1AD3-9778-9E26-ABC752867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DE8C6-7EC6-BD15-96C9-56F9FA813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30446-A95E-A525-AB26-678A6C431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FA60C-C385-0310-290C-FFAACDC1C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2805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A6B43-F4B5-983D-35B1-DF63EB433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69F2F-B3F9-A6E0-5A59-3D5A94451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10980-7C5A-D1AC-1D0E-4D08C2DAA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dirty="0"/>
              <a:t>throwing at a matrix one of its eigenvectors will “destroy the matrix” and turn it into a mere scalar number, which is the eigenvalue that corresponds to the eigenvector used</a:t>
            </a:r>
          </a:p>
          <a:p>
            <a:pPr algn="l"/>
            <a:endParaRPr lang="en-GB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GB" dirty="0"/>
              <a:t>we need to represent the initial state x0 by using A’s eigenvectors as the basis vectors</a:t>
            </a:r>
          </a:p>
          <a:p>
            <a:pPr algn="l"/>
            <a:endParaRPr lang="en-GB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endParaRPr lang="en-GB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GB" dirty="0"/>
              <a:t>Most real-world n × n matrices are diagonalizable and thus have n linearly independent eigenvectors, so here we assume that we can use them as the basis vectors to represent any initial state x0</a:t>
            </a:r>
            <a:endParaRPr lang="en-GB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40ECF-1558-79E2-988E-3540F6149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3365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9CCE1-746A-3391-8092-40B50F02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8519E1-96BE-7D79-982E-8445B5CC2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4E31C-EB73-45C4-835A-E3E2EB170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C11B6-B324-8CD8-9E03-6684A595E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198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 eigenvectors are not arbitrary algebra objects — they are:</a:t>
            </a:r>
          </a:p>
          <a:p>
            <a:r>
              <a:rPr lang="en-GB" dirty="0"/>
              <a:t>Directions in phase space that are invariant under the dynamics.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9773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46C9A-719C-CC4E-66E7-80A3DAF9E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0BF1C-0A0B-B1CE-4A49-F1A168C03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ADCD7-F264-BA0B-0F80-FD6E59E25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C52EA-3890-B381-B292-3658D43D1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967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FDF18-2084-40B0-A4EF-0D9C58494262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008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BF54-294C-CC6A-9312-2098D5731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4843F-66F7-87D2-FF78-F6CC21851C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7127B-56B9-AE81-8D2B-72CBE1892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0ED26-B7F0-B0CA-4723-3617CE7D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0FC02-E191-6971-CA63-C7C1E3E9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32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AA6A6-5414-8973-4534-C6F90085A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56945-60F7-189E-2B3A-7C1643E0A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FDA76-8E8F-D53D-14AE-19F6D2C04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F97A0-CA80-8A98-706D-35EF3B9E1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46103-663B-5E1B-D41E-BBDEE538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411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FD31E-75E9-81A1-DBA2-3021916D5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24785-BC8A-9C91-E448-AD329BA16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93FCC-E530-6AE5-BE6E-028E17EB5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9C122-63A5-FE8B-8045-AA445FB9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DB14C-BFB1-A513-6FB3-9F6A1CCDD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64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5435C-13B8-4F91-A526-74451B84C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DA333-652D-47D2-D2B6-30234AF6C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925DF-742B-0C3F-1012-0A73FF406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4A18B-C890-0048-9901-C1D56DD49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64A47-A2CF-3A95-20A2-947FB44D5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D7629-6EDE-49EA-DC91-B1E812FCB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520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5DFC5-BA04-2000-43DB-C26D01E34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24741-F9DD-5338-E2AB-838219AA1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299CE-1254-47F3-7930-0E7DBE22D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2F8ECA-1266-0BA8-6EE7-C4E92D8015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1666C6-4114-9931-C0D9-0E48526751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354F4-6F8A-C43B-59ED-E4BB99B74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F8092-1AC2-FB0A-F4F8-C2BB3C9E1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2B0ABD-AE01-AC9A-8DF8-306478918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257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8E066-33EE-013D-50A5-E81B4A0E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86855E-3C1C-8A3E-16AF-AFE1AF382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40F33-B892-43DB-2EF7-2EC510B0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33B93-BCAD-4CA2-12AC-C40F38590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166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47CF9F-448D-96AB-1D72-E42996636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7B5B5-D251-8DA5-BF2C-802F07081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65BF2-ACD4-DD24-ED43-4A2A6005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2480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F3C53-9A6D-3AAC-4D3F-D9EF5959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B71EF-50B3-EF68-A2FC-C9957B883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2A9C7-D0A6-47EF-5A9F-F2FD0EFAD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9FD08-5854-A54D-10E1-E0A9EE3E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DF0A8-52F0-8D53-99D6-39B6F63AA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FDB58-0A86-712F-6E14-601ACCC6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835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BD2BD-CF6D-C1B9-27AD-D773A978F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470B2B-9B44-AE94-28ED-51B7F066A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505E67-8630-B52A-7B85-D436FF50B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B5DE3-1E14-09FC-BE90-FE538B165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9AA0F-22A9-33C7-7124-0DD3BEBE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61698-618C-DD0D-7775-7F06BFB6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708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76FE-2351-6D75-1A9A-55E7A4381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FFFA3-4056-A039-83A3-FA566CF39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E7142-E2F5-F6AA-7DC4-DCD0069BE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FEB97-AED8-91EE-08FC-2993F1133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4BFCF-C959-3AFD-730C-91898F68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87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4E26DE-F970-4757-7E65-75E69047F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26D84-8088-DA6F-FBCE-053221B99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B1B49-7431-5EF4-E633-CBD77306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CFD4-C274-4D4B-A8FC-B31C42820DF8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F549E-513F-983B-273C-96ADC0B0E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5541D-1D79-DC4D-BB07-F82EA1D4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91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785C1-C989-B59F-263A-AA510C22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F3983-F768-5B28-4837-087D1BC5C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E707B-E17B-A355-BD53-829CE3DE6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28CFD4-C274-4D4B-A8FC-B31C42820DF8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871E0-FFAA-7C66-546E-5F67AA6FC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1D7C3-FBB2-36B5-5053-5CD4FDB70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73D99-B55A-4E37-8D51-3376973BE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50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gif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Starling - BirdWatch Ireland">
            <a:extLst>
              <a:ext uri="{FF2B5EF4-FFF2-40B4-BE49-F238E27FC236}">
                <a16:creationId xmlns:a16="http://schemas.microsoft.com/office/drawing/2014/main" id="{591BA28F-1CEC-B857-EA22-51433F370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72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Starling - BirdWatch Ireland">
            <a:extLst>
              <a:ext uri="{FF2B5EF4-FFF2-40B4-BE49-F238E27FC236}">
                <a16:creationId xmlns:a16="http://schemas.microsoft.com/office/drawing/2014/main" id="{39C3357C-9F06-2E7A-1AEE-9147002861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98"/>
          <a:stretch>
            <a:fillRect/>
          </a:stretch>
        </p:blipFill>
        <p:spPr bwMode="auto">
          <a:xfrm flipH="1">
            <a:off x="8572500" y="0"/>
            <a:ext cx="123456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Starling - BirdWatch Ireland">
            <a:extLst>
              <a:ext uri="{FF2B5EF4-FFF2-40B4-BE49-F238E27FC236}">
                <a16:creationId xmlns:a16="http://schemas.microsoft.com/office/drawing/2014/main" id="{E08BD789-2AD5-60CD-94A9-DBC43A3F1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98"/>
          <a:stretch>
            <a:fillRect/>
          </a:stretch>
        </p:blipFill>
        <p:spPr bwMode="auto">
          <a:xfrm>
            <a:off x="9807068" y="0"/>
            <a:ext cx="123456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Starling - BirdWatch Ireland">
            <a:extLst>
              <a:ext uri="{FF2B5EF4-FFF2-40B4-BE49-F238E27FC236}">
                <a16:creationId xmlns:a16="http://schemas.microsoft.com/office/drawing/2014/main" id="{083E659C-117B-F0EC-5306-FDC7DB3BF2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98"/>
          <a:stretch>
            <a:fillRect/>
          </a:stretch>
        </p:blipFill>
        <p:spPr bwMode="auto">
          <a:xfrm flipH="1">
            <a:off x="11041636" y="0"/>
            <a:ext cx="123456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7376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 descr="Starling stock photo. Image of vulgaris, portrait, vertebrate - 66452684">
            <a:extLst>
              <a:ext uri="{FF2B5EF4-FFF2-40B4-BE49-F238E27FC236}">
                <a16:creationId xmlns:a16="http://schemas.microsoft.com/office/drawing/2014/main" id="{4DDCEBD1-264A-97DA-6BD8-E943D4DB7B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0" t="4040"/>
          <a:stretch>
            <a:fillRect/>
          </a:stretch>
        </p:blipFill>
        <p:spPr bwMode="auto">
          <a:xfrm flipH="1">
            <a:off x="8556314" y="100899"/>
            <a:ext cx="3507459" cy="3643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1" name="Title 1"/>
          <p:cNvSpPr>
            <a:spLocks noGrp="1"/>
          </p:cNvSpPr>
          <p:nvPr>
            <p:ph type="ctrTitle"/>
          </p:nvPr>
        </p:nvSpPr>
        <p:spPr>
          <a:xfrm>
            <a:off x="967740" y="2179955"/>
            <a:ext cx="9120478" cy="1690688"/>
          </a:xfrm>
        </p:spPr>
        <p:txBody>
          <a:bodyPr>
            <a:noAutofit/>
          </a:bodyPr>
          <a:lstStyle/>
          <a:p>
            <a:r>
              <a:rPr lang="en-GB" sz="4400" dirty="0"/>
              <a:t>WEEK 3: SYSTEM THINKING THROUGH SPECULATIVE DESIGN (STSD)</a:t>
            </a:r>
            <a:endParaRPr lang="en-GB" sz="4400" dirty="0">
              <a:latin typeface="Georgi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122" name="Subtitle 2"/>
          <p:cNvSpPr>
            <a:spLocks noGrp="1"/>
          </p:cNvSpPr>
          <p:nvPr>
            <p:ph type="subTitle" idx="1"/>
          </p:nvPr>
        </p:nvSpPr>
        <p:spPr>
          <a:xfrm>
            <a:off x="1421787" y="4271213"/>
            <a:ext cx="8496300" cy="1944298"/>
          </a:xfrm>
        </p:spPr>
        <p:txBody>
          <a:bodyPr/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COMP0184</a:t>
            </a:r>
          </a:p>
          <a:p>
            <a:r>
              <a:rPr lang="en-US" sz="2400" dirty="0">
                <a:latin typeface="Arial"/>
                <a:ea typeface="Arial" charset="0"/>
                <a:cs typeface="Arial"/>
              </a:rPr>
              <a:t>January 2025</a:t>
            </a:r>
          </a:p>
        </p:txBody>
      </p:sp>
    </p:spTree>
    <p:extLst>
      <p:ext uri="{BB962C8B-B14F-4D97-AF65-F5344CB8AC3E}">
        <p14:creationId xmlns:p14="http://schemas.microsoft.com/office/powerpoint/2010/main" val="1071301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15D79-81E7-C90A-9E5E-79EC3657B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06D1E154-F90B-C906-FDF5-23119A2CE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06" y="3247164"/>
            <a:ext cx="5860983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</a:t>
            </a:r>
            <a:br>
              <a:rPr lang="en-GB" sz="4800" dirty="0"/>
            </a:br>
            <a:r>
              <a:rPr lang="en-GB" sz="4800" dirty="0"/>
              <a:t>DISCRETE TIME</a:t>
            </a:r>
            <a:br>
              <a:rPr lang="en-GB" sz="4800" dirty="0"/>
            </a:br>
            <a:r>
              <a:rPr lang="en-GB" sz="4800" dirty="0"/>
              <a:t>SYSTEMS</a:t>
            </a:r>
            <a:br>
              <a:rPr lang="en-GB" sz="4800" dirty="0"/>
            </a:br>
            <a:br>
              <a:rPr lang="en-GB" sz="4800" dirty="0"/>
            </a:br>
            <a:r>
              <a:rPr lang="en-GB" sz="4800" dirty="0"/>
              <a:t>-MODELING-</a:t>
            </a:r>
          </a:p>
        </p:txBody>
      </p:sp>
    </p:spTree>
    <p:extLst>
      <p:ext uri="{BB962C8B-B14F-4D97-AF65-F5344CB8AC3E}">
        <p14:creationId xmlns:p14="http://schemas.microsoft.com/office/powerpoint/2010/main" val="130174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433B3-9024-CDCB-E50E-887F83061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E1C5A705-68F7-F62C-3898-F829B34BB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F72BE1-F48B-562F-8D19-A5C72FB38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125" y="2197995"/>
            <a:ext cx="3118010" cy="1098606"/>
          </a:xfrm>
          <a:prstGeom prst="rect">
            <a:avLst/>
          </a:prstGeom>
          <a:ln w="57150">
            <a:solidFill>
              <a:srgbClr val="F9D14C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A6F90B-7031-77E8-F9AD-E920FF631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445" y="4099532"/>
            <a:ext cx="3651438" cy="1054154"/>
          </a:xfrm>
          <a:prstGeom prst="rect">
            <a:avLst/>
          </a:prstGeom>
          <a:ln w="57150">
            <a:solidFill>
              <a:srgbClr val="92D05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DA50A0-084B-934C-A42D-C427871533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550" y="2375804"/>
            <a:ext cx="6782149" cy="742988"/>
          </a:xfrm>
          <a:prstGeom prst="rect">
            <a:avLst/>
          </a:prstGeom>
          <a:ln w="57150">
            <a:solidFill>
              <a:srgbClr val="F9D14C"/>
            </a:solidFill>
          </a:ln>
        </p:spPr>
      </p:pic>
    </p:spTree>
    <p:extLst>
      <p:ext uri="{BB962C8B-B14F-4D97-AF65-F5344CB8AC3E}">
        <p14:creationId xmlns:p14="http://schemas.microsoft.com/office/powerpoint/2010/main" val="1462410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A532B-45B3-4BE5-F2F7-BEB22E67E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035AE9FE-2BBE-2D50-EDAF-72B1D87EF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7B9C18-0ECC-8CEA-13A4-A6F9326E0B21}"/>
              </a:ext>
            </a:extLst>
          </p:cNvPr>
          <p:cNvSpPr txBox="1"/>
          <p:nvPr/>
        </p:nvSpPr>
        <p:spPr>
          <a:xfrm>
            <a:off x="3048802" y="2000245"/>
            <a:ext cx="60976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Three essential components of computer simulation</a:t>
            </a:r>
          </a:p>
          <a:p>
            <a:endParaRPr lang="en-GB" dirty="0"/>
          </a:p>
          <a:p>
            <a:r>
              <a:rPr lang="en-GB" dirty="0"/>
              <a:t> </a:t>
            </a:r>
            <a:r>
              <a:rPr lang="en-GB" b="1" dirty="0"/>
              <a:t>Initialize</a:t>
            </a:r>
            <a:r>
              <a:rPr lang="en-GB" dirty="0"/>
              <a:t>. You will need to set up the initial values for all the state variables of the system.</a:t>
            </a:r>
          </a:p>
          <a:p>
            <a:endParaRPr lang="en-GB" dirty="0"/>
          </a:p>
          <a:p>
            <a:r>
              <a:rPr lang="en-GB" dirty="0"/>
              <a:t> </a:t>
            </a:r>
            <a:r>
              <a:rPr lang="en-GB" b="1" dirty="0"/>
              <a:t>Observe</a:t>
            </a:r>
            <a:r>
              <a:rPr lang="en-GB" dirty="0"/>
              <a:t>. You will need to define how you are going to monitor the state of the system. This could be done by just printing out some variables, collecting measurements in a list structure, or visualizing the state of the system. </a:t>
            </a:r>
          </a:p>
          <a:p>
            <a:endParaRPr lang="en-GB" dirty="0"/>
          </a:p>
          <a:p>
            <a:r>
              <a:rPr lang="en-GB" b="1" dirty="0"/>
              <a:t>Update</a:t>
            </a:r>
            <a:r>
              <a:rPr lang="en-GB" dirty="0"/>
              <a:t>. You will need to define how you are going to update the values of those state variables in every time step. This part will be defined as a function, and it will be executed repeatedly</a:t>
            </a:r>
          </a:p>
        </p:txBody>
      </p:sp>
    </p:spTree>
    <p:extLst>
      <p:ext uri="{BB962C8B-B14F-4D97-AF65-F5344CB8AC3E}">
        <p14:creationId xmlns:p14="http://schemas.microsoft.com/office/powerpoint/2010/main" val="1875984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31A40-473B-4054-9835-9DB4D8449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D407F8B4-8623-5CFC-C3C9-36C65A7C3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11D71A-A910-C390-3EB6-CA51D05EB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83" y="3295994"/>
            <a:ext cx="1822544" cy="55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69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F0451-4D18-14D6-8D2A-5C66E923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3A43A770-B4E5-6D91-C428-898C45F3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EECFF4-2F10-B698-C97B-D8A1B7B30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83" y="3295994"/>
            <a:ext cx="1822544" cy="5588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E77CC9-4949-937F-954A-9FC0CA5A0B34}"/>
              </a:ext>
            </a:extLst>
          </p:cNvPr>
          <p:cNvSpPr txBox="1"/>
          <p:nvPr/>
        </p:nvSpPr>
        <p:spPr>
          <a:xfrm>
            <a:off x="9565104" y="482253"/>
            <a:ext cx="609760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from </a:t>
            </a:r>
            <a:r>
              <a:rPr lang="en-GB" dirty="0" err="1"/>
              <a:t>pylab</a:t>
            </a:r>
            <a:r>
              <a:rPr lang="en-GB" dirty="0"/>
              <a:t> import *</a:t>
            </a:r>
          </a:p>
          <a:p>
            <a:r>
              <a:rPr lang="en-GB" dirty="0"/>
              <a:t>a = 1.1</a:t>
            </a:r>
          </a:p>
          <a:p>
            <a:r>
              <a:rPr lang="en-GB" dirty="0"/>
              <a:t>def initialize():</a:t>
            </a:r>
          </a:p>
          <a:p>
            <a:pPr lvl="1"/>
            <a:r>
              <a:rPr lang="en-GB" dirty="0"/>
              <a:t>global x, result</a:t>
            </a:r>
          </a:p>
          <a:p>
            <a:pPr lvl="1"/>
            <a:r>
              <a:rPr lang="en-GB" dirty="0"/>
              <a:t>x = 1.</a:t>
            </a:r>
          </a:p>
          <a:p>
            <a:pPr lvl="1"/>
            <a:r>
              <a:rPr lang="en-GB" dirty="0"/>
              <a:t>result = [x]</a:t>
            </a:r>
          </a:p>
          <a:p>
            <a:endParaRPr lang="en-GB" dirty="0"/>
          </a:p>
          <a:p>
            <a:r>
              <a:rPr lang="en-GB" dirty="0"/>
              <a:t>def observe():</a:t>
            </a:r>
          </a:p>
          <a:p>
            <a:pPr lvl="1"/>
            <a:r>
              <a:rPr lang="en-GB" dirty="0"/>
              <a:t>global x, result</a:t>
            </a:r>
          </a:p>
          <a:p>
            <a:pPr lvl="1"/>
            <a:r>
              <a:rPr lang="en-GB" dirty="0" err="1"/>
              <a:t>result.append</a:t>
            </a:r>
            <a:r>
              <a:rPr lang="en-GB" dirty="0"/>
              <a:t>(x)</a:t>
            </a:r>
          </a:p>
          <a:p>
            <a:endParaRPr lang="en-GB" dirty="0"/>
          </a:p>
          <a:p>
            <a:r>
              <a:rPr lang="en-GB" dirty="0"/>
              <a:t>def update():</a:t>
            </a:r>
          </a:p>
          <a:p>
            <a:pPr lvl="1"/>
            <a:r>
              <a:rPr lang="en-GB" dirty="0"/>
              <a:t>global x, result</a:t>
            </a:r>
          </a:p>
          <a:p>
            <a:pPr lvl="1"/>
            <a:r>
              <a:rPr lang="en-GB" dirty="0"/>
              <a:t>x = a * x</a:t>
            </a:r>
          </a:p>
          <a:p>
            <a:endParaRPr lang="en-GB" dirty="0"/>
          </a:p>
          <a:p>
            <a:r>
              <a:rPr lang="en-GB" dirty="0"/>
              <a:t>initialize()</a:t>
            </a:r>
          </a:p>
          <a:p>
            <a:r>
              <a:rPr lang="en-GB" dirty="0"/>
              <a:t>for t in </a:t>
            </a:r>
            <a:r>
              <a:rPr lang="en-GB" dirty="0" err="1"/>
              <a:t>xrange</a:t>
            </a:r>
            <a:r>
              <a:rPr lang="en-GB" dirty="0"/>
              <a:t>(30):</a:t>
            </a:r>
          </a:p>
          <a:p>
            <a:pPr lvl="1"/>
            <a:r>
              <a:rPr lang="en-GB" dirty="0"/>
              <a:t>update()</a:t>
            </a:r>
          </a:p>
          <a:p>
            <a:pPr lvl="1"/>
            <a:r>
              <a:rPr lang="en-GB" dirty="0"/>
              <a:t>observe()</a:t>
            </a:r>
          </a:p>
          <a:p>
            <a:pPr lvl="1"/>
            <a:endParaRPr lang="en-GB" dirty="0"/>
          </a:p>
          <a:p>
            <a:r>
              <a:rPr lang="en-GB" dirty="0"/>
              <a:t>plot(result)</a:t>
            </a:r>
          </a:p>
          <a:p>
            <a:r>
              <a:rPr lang="en-GB" dirty="0"/>
              <a:t>show()</a:t>
            </a:r>
          </a:p>
        </p:txBody>
      </p:sp>
    </p:spTree>
    <p:extLst>
      <p:ext uri="{BB962C8B-B14F-4D97-AF65-F5344CB8AC3E}">
        <p14:creationId xmlns:p14="http://schemas.microsoft.com/office/powerpoint/2010/main" val="980696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2B6D6-487D-28F1-F98F-3DC187074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BB9E0F32-94E4-7CED-A71E-F73E4CC34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A89A05-7AF4-19BB-D7F8-1440462A3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83" y="3295994"/>
            <a:ext cx="1822544" cy="5588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A72932-1F6A-9867-62E3-0309FEF15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246" y="2013990"/>
            <a:ext cx="4242018" cy="34228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842E28-5439-7161-50E4-C033B4DD2C21}"/>
              </a:ext>
            </a:extLst>
          </p:cNvPr>
          <p:cNvSpPr txBox="1"/>
          <p:nvPr/>
        </p:nvSpPr>
        <p:spPr>
          <a:xfrm>
            <a:off x="9565104" y="482253"/>
            <a:ext cx="609760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from </a:t>
            </a:r>
            <a:r>
              <a:rPr lang="en-GB" dirty="0" err="1"/>
              <a:t>pylab</a:t>
            </a:r>
            <a:r>
              <a:rPr lang="en-GB" dirty="0"/>
              <a:t> import *</a:t>
            </a:r>
          </a:p>
          <a:p>
            <a:r>
              <a:rPr lang="en-GB" dirty="0"/>
              <a:t>a = 1.1</a:t>
            </a:r>
          </a:p>
          <a:p>
            <a:r>
              <a:rPr lang="en-GB" dirty="0"/>
              <a:t>def initialize():</a:t>
            </a:r>
          </a:p>
          <a:p>
            <a:pPr lvl="1"/>
            <a:r>
              <a:rPr lang="en-GB" dirty="0"/>
              <a:t>global x, result</a:t>
            </a:r>
          </a:p>
          <a:p>
            <a:pPr lvl="1"/>
            <a:r>
              <a:rPr lang="en-GB" dirty="0"/>
              <a:t>x = 1.</a:t>
            </a:r>
          </a:p>
          <a:p>
            <a:pPr lvl="1"/>
            <a:r>
              <a:rPr lang="en-GB" dirty="0"/>
              <a:t>result = [x]</a:t>
            </a:r>
          </a:p>
          <a:p>
            <a:endParaRPr lang="en-GB" dirty="0"/>
          </a:p>
          <a:p>
            <a:r>
              <a:rPr lang="en-GB" dirty="0"/>
              <a:t>def observe():</a:t>
            </a:r>
          </a:p>
          <a:p>
            <a:pPr lvl="1"/>
            <a:r>
              <a:rPr lang="en-GB" dirty="0"/>
              <a:t>global x, result</a:t>
            </a:r>
          </a:p>
          <a:p>
            <a:pPr lvl="1"/>
            <a:r>
              <a:rPr lang="en-GB" dirty="0" err="1"/>
              <a:t>result.append</a:t>
            </a:r>
            <a:r>
              <a:rPr lang="en-GB" dirty="0"/>
              <a:t>(x)</a:t>
            </a:r>
          </a:p>
          <a:p>
            <a:endParaRPr lang="en-GB" dirty="0"/>
          </a:p>
          <a:p>
            <a:r>
              <a:rPr lang="en-GB" dirty="0"/>
              <a:t>def update():</a:t>
            </a:r>
          </a:p>
          <a:p>
            <a:pPr lvl="1"/>
            <a:r>
              <a:rPr lang="en-GB" dirty="0"/>
              <a:t>global x, result</a:t>
            </a:r>
          </a:p>
          <a:p>
            <a:pPr lvl="1"/>
            <a:r>
              <a:rPr lang="en-GB" dirty="0"/>
              <a:t>x = a * x</a:t>
            </a:r>
          </a:p>
          <a:p>
            <a:endParaRPr lang="en-GB" dirty="0"/>
          </a:p>
          <a:p>
            <a:r>
              <a:rPr lang="en-GB" dirty="0"/>
              <a:t>initialize()</a:t>
            </a:r>
          </a:p>
          <a:p>
            <a:r>
              <a:rPr lang="en-GB" dirty="0"/>
              <a:t>for t in </a:t>
            </a:r>
            <a:r>
              <a:rPr lang="en-GB" dirty="0" err="1"/>
              <a:t>xrange</a:t>
            </a:r>
            <a:r>
              <a:rPr lang="en-GB" dirty="0"/>
              <a:t>(30):</a:t>
            </a:r>
          </a:p>
          <a:p>
            <a:pPr lvl="1"/>
            <a:r>
              <a:rPr lang="en-GB" dirty="0"/>
              <a:t>update()</a:t>
            </a:r>
          </a:p>
          <a:p>
            <a:pPr lvl="1"/>
            <a:r>
              <a:rPr lang="en-GB" dirty="0"/>
              <a:t>observe()</a:t>
            </a:r>
          </a:p>
          <a:p>
            <a:pPr lvl="1"/>
            <a:endParaRPr lang="en-GB" dirty="0"/>
          </a:p>
          <a:p>
            <a:r>
              <a:rPr lang="en-GB" dirty="0"/>
              <a:t>plot(result)</a:t>
            </a:r>
          </a:p>
          <a:p>
            <a:r>
              <a:rPr lang="en-GB" dirty="0"/>
              <a:t>show()</a:t>
            </a:r>
          </a:p>
        </p:txBody>
      </p:sp>
    </p:spTree>
    <p:extLst>
      <p:ext uri="{BB962C8B-B14F-4D97-AF65-F5344CB8AC3E}">
        <p14:creationId xmlns:p14="http://schemas.microsoft.com/office/powerpoint/2010/main" val="3075269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FCBA8-C23C-83B0-47D1-02AFE6A82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C8558494-9CB1-81CB-19A1-F1D870BE3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5C1643-BCC3-E914-6DF9-E64D8B18C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100" y="2607070"/>
            <a:ext cx="2997210" cy="1488096"/>
          </a:xfrm>
          <a:prstGeom prst="rect">
            <a:avLst/>
          </a:prstGeom>
          <a:ln w="57150">
            <a:solidFill>
              <a:srgbClr val="F9D14C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60289E-6013-0231-E297-74E83C375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842471"/>
            <a:ext cx="3821127" cy="1038304"/>
          </a:xfrm>
          <a:prstGeom prst="rect">
            <a:avLst/>
          </a:prstGeom>
          <a:ln w="57150">
            <a:solidFill>
              <a:srgbClr val="F9D14C"/>
            </a:solidFill>
          </a:ln>
        </p:spPr>
      </p:pic>
    </p:spTree>
    <p:extLst>
      <p:ext uri="{BB962C8B-B14F-4D97-AF65-F5344CB8AC3E}">
        <p14:creationId xmlns:p14="http://schemas.microsoft.com/office/powerpoint/2010/main" val="3202749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FE637-2F22-8B9A-D801-033B69DE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94616FC1-8B36-E9AE-3247-321665503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E05737-D889-7589-089B-D9E36E329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05" y="3025351"/>
            <a:ext cx="2858703" cy="776787"/>
          </a:xfrm>
          <a:prstGeom prst="rect">
            <a:avLst/>
          </a:prstGeom>
          <a:ln w="5715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2CEE63-94A7-7A97-49DB-EA643D210F45}"/>
              </a:ext>
            </a:extLst>
          </p:cNvPr>
          <p:cNvSpPr txBox="1"/>
          <p:nvPr/>
        </p:nvSpPr>
        <p:spPr>
          <a:xfrm>
            <a:off x="8864065" y="349960"/>
            <a:ext cx="609760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from </a:t>
            </a:r>
            <a:r>
              <a:rPr lang="en-GB" dirty="0" err="1"/>
              <a:t>pylab</a:t>
            </a:r>
            <a:r>
              <a:rPr lang="en-GB" dirty="0"/>
              <a:t> import *</a:t>
            </a:r>
          </a:p>
          <a:p>
            <a:r>
              <a:rPr lang="en-GB" dirty="0"/>
              <a:t>def initialize():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1.</a:t>
            </a:r>
          </a:p>
          <a:p>
            <a:pPr lvl="1"/>
            <a:r>
              <a:rPr lang="en-GB" dirty="0"/>
              <a:t>y = 1.</a:t>
            </a:r>
          </a:p>
          <a:p>
            <a:pPr lvl="1"/>
            <a:r>
              <a:rPr lang="en-GB" dirty="0" err="1"/>
              <a:t>xresult</a:t>
            </a:r>
            <a:r>
              <a:rPr lang="en-GB" dirty="0"/>
              <a:t> = [x]</a:t>
            </a:r>
          </a:p>
          <a:p>
            <a:pPr lvl="1"/>
            <a:r>
              <a:rPr lang="en-GB" dirty="0" err="1"/>
              <a:t>yresult</a:t>
            </a:r>
            <a:r>
              <a:rPr lang="en-GB" dirty="0"/>
              <a:t> = [y]</a:t>
            </a:r>
          </a:p>
          <a:p>
            <a:r>
              <a:rPr lang="en-GB" dirty="0"/>
              <a:t>def observe():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 err="1"/>
              <a:t>xresult.append</a:t>
            </a:r>
            <a:r>
              <a:rPr lang="en-GB" dirty="0"/>
              <a:t>(x)</a:t>
            </a:r>
          </a:p>
          <a:p>
            <a:pPr lvl="1"/>
            <a:r>
              <a:rPr lang="en-GB" dirty="0" err="1"/>
              <a:t>yresult.append</a:t>
            </a:r>
            <a:r>
              <a:rPr lang="en-GB" dirty="0"/>
              <a:t>(y)</a:t>
            </a:r>
          </a:p>
          <a:p>
            <a:r>
              <a:rPr lang="en-GB" dirty="0"/>
              <a:t>def update():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0.5 * x + y</a:t>
            </a:r>
          </a:p>
          <a:p>
            <a:pPr lvl="1"/>
            <a:r>
              <a:rPr lang="en-GB" dirty="0"/>
              <a:t>y = -0.5 * x + y</a:t>
            </a:r>
          </a:p>
          <a:p>
            <a:r>
              <a:rPr lang="en-GB" dirty="0"/>
              <a:t>initialize()</a:t>
            </a:r>
          </a:p>
          <a:p>
            <a:r>
              <a:rPr lang="en-GB" dirty="0"/>
              <a:t>for t in </a:t>
            </a:r>
            <a:r>
              <a:rPr lang="en-GB" dirty="0" err="1"/>
              <a:t>xrange</a:t>
            </a:r>
            <a:r>
              <a:rPr lang="en-GB" dirty="0"/>
              <a:t>(30):</a:t>
            </a:r>
          </a:p>
          <a:p>
            <a:pPr lvl="1"/>
            <a:r>
              <a:rPr lang="en-GB" dirty="0"/>
              <a:t>update()</a:t>
            </a:r>
          </a:p>
          <a:p>
            <a:pPr lvl="1"/>
            <a:r>
              <a:rPr lang="en-GB" dirty="0"/>
              <a:t>observe()</a:t>
            </a:r>
          </a:p>
          <a:p>
            <a:r>
              <a:rPr lang="en-GB" dirty="0"/>
              <a:t>plot(</a:t>
            </a:r>
            <a:r>
              <a:rPr lang="en-GB" dirty="0" err="1"/>
              <a:t>xresult</a:t>
            </a:r>
            <a:r>
              <a:rPr lang="en-GB" dirty="0"/>
              <a:t>, ’b-’)</a:t>
            </a:r>
          </a:p>
          <a:p>
            <a:r>
              <a:rPr lang="en-GB" dirty="0"/>
              <a:t>plot(</a:t>
            </a:r>
            <a:r>
              <a:rPr lang="en-GB" dirty="0" err="1"/>
              <a:t>yresult</a:t>
            </a:r>
            <a:r>
              <a:rPr lang="en-GB" dirty="0"/>
              <a:t>, ’g--’)</a:t>
            </a:r>
          </a:p>
          <a:p>
            <a:r>
              <a:rPr lang="en-GB" dirty="0"/>
              <a:t>show()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0540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D5AC8-E607-C060-03B3-A54DDA48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CBB490B5-CFE5-DC7C-352A-C20AD823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EC7322-C6CF-6137-67F4-D13AA075E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05" y="3025351"/>
            <a:ext cx="2858703" cy="776787"/>
          </a:xfrm>
          <a:prstGeom prst="rect">
            <a:avLst/>
          </a:prstGeom>
          <a:ln w="5715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2B5774-754A-2228-CE66-ABD5EF4554B5}"/>
              </a:ext>
            </a:extLst>
          </p:cNvPr>
          <p:cNvSpPr txBox="1"/>
          <p:nvPr/>
        </p:nvSpPr>
        <p:spPr>
          <a:xfrm>
            <a:off x="8864065" y="349960"/>
            <a:ext cx="609760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from </a:t>
            </a:r>
            <a:r>
              <a:rPr lang="en-GB" dirty="0" err="1"/>
              <a:t>pylab</a:t>
            </a:r>
            <a:r>
              <a:rPr lang="en-GB" dirty="0"/>
              <a:t> import *</a:t>
            </a:r>
          </a:p>
          <a:p>
            <a:r>
              <a:rPr lang="en-GB" dirty="0"/>
              <a:t>def initialize():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1.</a:t>
            </a:r>
          </a:p>
          <a:p>
            <a:pPr lvl="1"/>
            <a:r>
              <a:rPr lang="en-GB" dirty="0"/>
              <a:t>y = 1.</a:t>
            </a:r>
          </a:p>
          <a:p>
            <a:pPr lvl="1"/>
            <a:r>
              <a:rPr lang="en-GB" dirty="0" err="1"/>
              <a:t>xresult</a:t>
            </a:r>
            <a:r>
              <a:rPr lang="en-GB" dirty="0"/>
              <a:t> = [x]</a:t>
            </a:r>
          </a:p>
          <a:p>
            <a:pPr lvl="1"/>
            <a:r>
              <a:rPr lang="en-GB" dirty="0" err="1"/>
              <a:t>yresult</a:t>
            </a:r>
            <a:r>
              <a:rPr lang="en-GB" dirty="0"/>
              <a:t> = [y]</a:t>
            </a:r>
          </a:p>
          <a:p>
            <a:r>
              <a:rPr lang="en-GB" dirty="0"/>
              <a:t>def observe():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 err="1"/>
              <a:t>xresult.append</a:t>
            </a:r>
            <a:r>
              <a:rPr lang="en-GB" dirty="0"/>
              <a:t>(x)</a:t>
            </a:r>
          </a:p>
          <a:p>
            <a:pPr lvl="1"/>
            <a:r>
              <a:rPr lang="en-GB" dirty="0" err="1"/>
              <a:t>yresult.append</a:t>
            </a:r>
            <a:r>
              <a:rPr lang="en-GB" dirty="0"/>
              <a:t>(y)</a:t>
            </a:r>
          </a:p>
          <a:p>
            <a:r>
              <a:rPr lang="en-GB" dirty="0"/>
              <a:t>def update():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0.5 * x + y</a:t>
            </a:r>
          </a:p>
          <a:p>
            <a:pPr lvl="1"/>
            <a:r>
              <a:rPr lang="en-GB" dirty="0"/>
              <a:t>y = -0.5 * x + y</a:t>
            </a:r>
          </a:p>
          <a:p>
            <a:r>
              <a:rPr lang="en-GB" dirty="0"/>
              <a:t>initialize()</a:t>
            </a:r>
          </a:p>
          <a:p>
            <a:r>
              <a:rPr lang="en-GB" dirty="0"/>
              <a:t>for t in </a:t>
            </a:r>
            <a:r>
              <a:rPr lang="en-GB" dirty="0" err="1"/>
              <a:t>xrange</a:t>
            </a:r>
            <a:r>
              <a:rPr lang="en-GB" dirty="0"/>
              <a:t>(30):</a:t>
            </a:r>
          </a:p>
          <a:p>
            <a:pPr lvl="1"/>
            <a:r>
              <a:rPr lang="en-GB" dirty="0"/>
              <a:t>update()</a:t>
            </a:r>
          </a:p>
          <a:p>
            <a:pPr lvl="1"/>
            <a:r>
              <a:rPr lang="en-GB" dirty="0"/>
              <a:t>observe()</a:t>
            </a:r>
          </a:p>
          <a:p>
            <a:r>
              <a:rPr lang="en-GB" dirty="0"/>
              <a:t>plot(</a:t>
            </a:r>
            <a:r>
              <a:rPr lang="en-GB" dirty="0" err="1"/>
              <a:t>xresult</a:t>
            </a:r>
            <a:r>
              <a:rPr lang="en-GB" dirty="0"/>
              <a:t>, ’b-’)</a:t>
            </a:r>
          </a:p>
          <a:p>
            <a:r>
              <a:rPr lang="en-GB" dirty="0"/>
              <a:t>plot(</a:t>
            </a:r>
            <a:r>
              <a:rPr lang="en-GB" dirty="0" err="1"/>
              <a:t>yresult</a:t>
            </a:r>
            <a:r>
              <a:rPr lang="en-GB" dirty="0"/>
              <a:t>, ’g--’)</a:t>
            </a:r>
          </a:p>
          <a:p>
            <a:r>
              <a:rPr lang="en-GB" dirty="0"/>
              <a:t>show()</a:t>
            </a:r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4471EC-BB9A-CE14-0D77-07BDC21F6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888" y="1915428"/>
            <a:ext cx="4508048" cy="350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050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203FE-7C1F-EE84-1A4F-A1A1A9405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E91659F8-96CA-E198-85F5-5D0881704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F2177C-28AA-9CC8-C4BF-17E6FA90B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35" y="3040606"/>
            <a:ext cx="2858703" cy="776787"/>
          </a:xfrm>
          <a:prstGeom prst="rect">
            <a:avLst/>
          </a:prstGeom>
          <a:ln w="5715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1DCDB8-C1DC-87C9-B5C4-0F3593AF662F}"/>
              </a:ext>
            </a:extLst>
          </p:cNvPr>
          <p:cNvSpPr txBox="1"/>
          <p:nvPr/>
        </p:nvSpPr>
        <p:spPr>
          <a:xfrm>
            <a:off x="8864065" y="349960"/>
            <a:ext cx="609760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from </a:t>
            </a:r>
            <a:r>
              <a:rPr lang="en-GB" dirty="0" err="1"/>
              <a:t>pylab</a:t>
            </a:r>
            <a:r>
              <a:rPr lang="en-GB" dirty="0"/>
              <a:t> import *</a:t>
            </a:r>
          </a:p>
          <a:p>
            <a:r>
              <a:rPr lang="en-GB" dirty="0"/>
              <a:t>def initialize():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1.</a:t>
            </a:r>
          </a:p>
          <a:p>
            <a:pPr lvl="1"/>
            <a:r>
              <a:rPr lang="en-GB" dirty="0"/>
              <a:t>y = 1.</a:t>
            </a:r>
          </a:p>
          <a:p>
            <a:pPr lvl="1"/>
            <a:r>
              <a:rPr lang="en-GB" dirty="0" err="1"/>
              <a:t>xresult</a:t>
            </a:r>
            <a:r>
              <a:rPr lang="en-GB" dirty="0"/>
              <a:t> = [x]</a:t>
            </a:r>
          </a:p>
          <a:p>
            <a:pPr lvl="1"/>
            <a:r>
              <a:rPr lang="en-GB" dirty="0" err="1"/>
              <a:t>yresult</a:t>
            </a:r>
            <a:r>
              <a:rPr lang="en-GB" dirty="0"/>
              <a:t> = [y]</a:t>
            </a:r>
          </a:p>
          <a:p>
            <a:r>
              <a:rPr lang="en-GB" dirty="0"/>
              <a:t>def observe():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 err="1"/>
              <a:t>xresult.append</a:t>
            </a:r>
            <a:r>
              <a:rPr lang="en-GB" dirty="0"/>
              <a:t>(x)</a:t>
            </a:r>
          </a:p>
          <a:p>
            <a:pPr lvl="1"/>
            <a:r>
              <a:rPr lang="en-GB" dirty="0" err="1"/>
              <a:t>yresult.append</a:t>
            </a:r>
            <a:r>
              <a:rPr lang="en-GB" dirty="0"/>
              <a:t>(y)</a:t>
            </a:r>
          </a:p>
          <a:p>
            <a:r>
              <a:rPr lang="en-GB" dirty="0"/>
              <a:t>def update():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0.5 * x + y</a:t>
            </a:r>
          </a:p>
          <a:p>
            <a:pPr lvl="1"/>
            <a:r>
              <a:rPr lang="en-GB" dirty="0"/>
              <a:t>y = -0.5 * x + y</a:t>
            </a:r>
          </a:p>
          <a:p>
            <a:r>
              <a:rPr lang="en-GB" dirty="0"/>
              <a:t>initialize()</a:t>
            </a:r>
          </a:p>
          <a:p>
            <a:r>
              <a:rPr lang="en-GB" dirty="0"/>
              <a:t>for t in </a:t>
            </a:r>
            <a:r>
              <a:rPr lang="en-GB" dirty="0" err="1"/>
              <a:t>xrange</a:t>
            </a:r>
            <a:r>
              <a:rPr lang="en-GB" dirty="0"/>
              <a:t>(30):</a:t>
            </a:r>
          </a:p>
          <a:p>
            <a:pPr lvl="1"/>
            <a:r>
              <a:rPr lang="en-GB" dirty="0"/>
              <a:t>update()</a:t>
            </a:r>
          </a:p>
          <a:p>
            <a:pPr lvl="1"/>
            <a:r>
              <a:rPr lang="en-GB" dirty="0"/>
              <a:t>observe()</a:t>
            </a:r>
          </a:p>
          <a:p>
            <a:r>
              <a:rPr lang="en-GB" dirty="0"/>
              <a:t>plot(</a:t>
            </a:r>
            <a:r>
              <a:rPr lang="en-GB" dirty="0" err="1"/>
              <a:t>xresult</a:t>
            </a:r>
            <a:r>
              <a:rPr lang="en-GB" dirty="0"/>
              <a:t>, ’b-’)</a:t>
            </a:r>
          </a:p>
          <a:p>
            <a:r>
              <a:rPr lang="en-GB" dirty="0"/>
              <a:t>plot(</a:t>
            </a:r>
            <a:r>
              <a:rPr lang="en-GB" dirty="0" err="1"/>
              <a:t>yresult</a:t>
            </a:r>
            <a:r>
              <a:rPr lang="en-GB" dirty="0"/>
              <a:t>, ’g--’)</a:t>
            </a:r>
          </a:p>
          <a:p>
            <a:r>
              <a:rPr lang="en-GB" dirty="0"/>
              <a:t>show()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D97487-5E71-D1C6-0F09-FB96512C5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69" y="3802137"/>
            <a:ext cx="3023165" cy="2503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4DD37C-4560-5F67-CEFC-F65315779A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305" y="1584436"/>
            <a:ext cx="5131064" cy="399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741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C1C0E-E417-B8EF-E812-9E3DD159B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A96ACBB5-3613-0FE1-5276-EC9C62C0F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BC8A6A-6BA8-4DA8-DA06-946B00675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67" y="3040606"/>
            <a:ext cx="2858703" cy="776787"/>
          </a:xfrm>
          <a:prstGeom prst="rect">
            <a:avLst/>
          </a:prstGeom>
          <a:ln w="5715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9804B1-33EF-A6D5-4208-743AF9394DBB}"/>
              </a:ext>
            </a:extLst>
          </p:cNvPr>
          <p:cNvSpPr txBox="1"/>
          <p:nvPr/>
        </p:nvSpPr>
        <p:spPr>
          <a:xfrm>
            <a:off x="8864065" y="349960"/>
            <a:ext cx="609760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from </a:t>
            </a:r>
            <a:r>
              <a:rPr lang="en-GB" dirty="0" err="1"/>
              <a:t>pylab</a:t>
            </a:r>
            <a:r>
              <a:rPr lang="en-GB" dirty="0"/>
              <a:t> import *</a:t>
            </a:r>
          </a:p>
          <a:p>
            <a:r>
              <a:rPr lang="en-GB" dirty="0"/>
              <a:t>def initialize():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1.</a:t>
            </a:r>
          </a:p>
          <a:p>
            <a:pPr lvl="1"/>
            <a:r>
              <a:rPr lang="en-GB" dirty="0"/>
              <a:t>y = 1.</a:t>
            </a:r>
          </a:p>
          <a:p>
            <a:pPr lvl="1"/>
            <a:r>
              <a:rPr lang="en-GB" dirty="0" err="1"/>
              <a:t>xresult</a:t>
            </a:r>
            <a:r>
              <a:rPr lang="en-GB" dirty="0"/>
              <a:t> = [x]</a:t>
            </a:r>
          </a:p>
          <a:p>
            <a:pPr lvl="1"/>
            <a:r>
              <a:rPr lang="en-GB" dirty="0" err="1"/>
              <a:t>yresult</a:t>
            </a:r>
            <a:r>
              <a:rPr lang="en-GB" dirty="0"/>
              <a:t> = [y]</a:t>
            </a:r>
          </a:p>
          <a:p>
            <a:r>
              <a:rPr lang="en-GB" dirty="0"/>
              <a:t>def observe():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 err="1"/>
              <a:t>xresult.append</a:t>
            </a:r>
            <a:r>
              <a:rPr lang="en-GB" dirty="0"/>
              <a:t>(x)</a:t>
            </a:r>
          </a:p>
          <a:p>
            <a:pPr lvl="1"/>
            <a:r>
              <a:rPr lang="en-GB" dirty="0" err="1"/>
              <a:t>yresult.append</a:t>
            </a:r>
            <a:r>
              <a:rPr lang="en-GB" dirty="0"/>
              <a:t>(y)</a:t>
            </a:r>
          </a:p>
          <a:p>
            <a:r>
              <a:rPr lang="en-GB" dirty="0"/>
              <a:t>def update():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b="1" dirty="0" err="1"/>
              <a:t>nextx</a:t>
            </a:r>
            <a:r>
              <a:rPr lang="en-GB" b="1" dirty="0"/>
              <a:t> = 0.5 * x + y</a:t>
            </a:r>
          </a:p>
          <a:p>
            <a:pPr lvl="1"/>
            <a:r>
              <a:rPr lang="en-GB" b="1" dirty="0" err="1"/>
              <a:t>nexty</a:t>
            </a:r>
            <a:r>
              <a:rPr lang="en-GB" b="1" dirty="0"/>
              <a:t> = -0.5 * x + y</a:t>
            </a:r>
          </a:p>
          <a:p>
            <a:pPr lvl="1"/>
            <a:r>
              <a:rPr lang="en-GB" b="1" dirty="0"/>
              <a:t> x, y = </a:t>
            </a:r>
            <a:r>
              <a:rPr lang="en-GB" b="1" dirty="0" err="1"/>
              <a:t>nextx</a:t>
            </a:r>
            <a:r>
              <a:rPr lang="en-GB" b="1" dirty="0"/>
              <a:t>, </a:t>
            </a:r>
            <a:r>
              <a:rPr lang="en-GB" b="1" dirty="0" err="1"/>
              <a:t>nexty</a:t>
            </a:r>
            <a:endParaRPr lang="en-GB" b="1" dirty="0"/>
          </a:p>
          <a:p>
            <a:pPr lvl="1"/>
            <a:r>
              <a:rPr lang="en-GB" dirty="0"/>
              <a:t>initialize()</a:t>
            </a:r>
          </a:p>
          <a:p>
            <a:r>
              <a:rPr lang="en-GB" dirty="0"/>
              <a:t>for t in </a:t>
            </a:r>
            <a:r>
              <a:rPr lang="en-GB" dirty="0" err="1"/>
              <a:t>xrange</a:t>
            </a:r>
            <a:r>
              <a:rPr lang="en-GB" dirty="0"/>
              <a:t>(30):</a:t>
            </a:r>
          </a:p>
          <a:p>
            <a:pPr lvl="1"/>
            <a:r>
              <a:rPr lang="en-GB" dirty="0"/>
              <a:t>update()</a:t>
            </a:r>
          </a:p>
          <a:p>
            <a:pPr lvl="1"/>
            <a:r>
              <a:rPr lang="en-GB" dirty="0"/>
              <a:t>observe()</a:t>
            </a:r>
          </a:p>
          <a:p>
            <a:r>
              <a:rPr lang="en-GB" dirty="0"/>
              <a:t>plot(</a:t>
            </a:r>
            <a:r>
              <a:rPr lang="en-GB" dirty="0" err="1"/>
              <a:t>xresult</a:t>
            </a:r>
            <a:r>
              <a:rPr lang="en-GB" dirty="0"/>
              <a:t>, ’b-’)</a:t>
            </a:r>
          </a:p>
          <a:p>
            <a:r>
              <a:rPr lang="en-GB" dirty="0"/>
              <a:t>plot(</a:t>
            </a:r>
            <a:r>
              <a:rPr lang="en-GB" dirty="0" err="1"/>
              <a:t>yresult</a:t>
            </a:r>
            <a:r>
              <a:rPr lang="en-GB" dirty="0"/>
              <a:t>, ’g--’)</a:t>
            </a:r>
          </a:p>
          <a:p>
            <a:r>
              <a:rPr lang="en-GB" dirty="0"/>
              <a:t>show()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1375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2788D-65F3-9DC2-D98C-4A7413F4C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B3289934-068A-014B-8D93-2EF402D6E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E27825-D9C2-B1B8-FFA6-6B7A476C9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67" y="3040606"/>
            <a:ext cx="2858703" cy="776787"/>
          </a:xfrm>
          <a:prstGeom prst="rect">
            <a:avLst/>
          </a:prstGeom>
          <a:ln w="5715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B1A420-9288-7A86-93F8-F5329296AAE7}"/>
              </a:ext>
            </a:extLst>
          </p:cNvPr>
          <p:cNvSpPr txBox="1"/>
          <p:nvPr/>
        </p:nvSpPr>
        <p:spPr>
          <a:xfrm>
            <a:off x="8864065" y="349960"/>
            <a:ext cx="609760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from </a:t>
            </a:r>
            <a:r>
              <a:rPr lang="en-GB" dirty="0" err="1"/>
              <a:t>pylab</a:t>
            </a:r>
            <a:r>
              <a:rPr lang="en-GB" dirty="0"/>
              <a:t> import *</a:t>
            </a:r>
          </a:p>
          <a:p>
            <a:r>
              <a:rPr lang="en-GB" dirty="0"/>
              <a:t>def initialize():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1.</a:t>
            </a:r>
          </a:p>
          <a:p>
            <a:pPr lvl="1"/>
            <a:r>
              <a:rPr lang="en-GB" dirty="0"/>
              <a:t>y = 1.</a:t>
            </a:r>
          </a:p>
          <a:p>
            <a:pPr lvl="1"/>
            <a:r>
              <a:rPr lang="en-GB" dirty="0" err="1"/>
              <a:t>xresult</a:t>
            </a:r>
            <a:r>
              <a:rPr lang="en-GB" dirty="0"/>
              <a:t> = [x]</a:t>
            </a:r>
          </a:p>
          <a:p>
            <a:pPr lvl="1"/>
            <a:r>
              <a:rPr lang="en-GB" dirty="0" err="1"/>
              <a:t>yresult</a:t>
            </a:r>
            <a:r>
              <a:rPr lang="en-GB" dirty="0"/>
              <a:t> = [y]</a:t>
            </a:r>
          </a:p>
          <a:p>
            <a:r>
              <a:rPr lang="en-GB" dirty="0"/>
              <a:t>def observe():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 err="1"/>
              <a:t>xresult.append</a:t>
            </a:r>
            <a:r>
              <a:rPr lang="en-GB" dirty="0"/>
              <a:t>(x)</a:t>
            </a:r>
          </a:p>
          <a:p>
            <a:pPr lvl="1"/>
            <a:r>
              <a:rPr lang="en-GB" dirty="0" err="1"/>
              <a:t>yresult.append</a:t>
            </a:r>
            <a:r>
              <a:rPr lang="en-GB" dirty="0"/>
              <a:t>(y)</a:t>
            </a:r>
          </a:p>
          <a:p>
            <a:r>
              <a:rPr lang="en-GB" dirty="0"/>
              <a:t>def update():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b="1" dirty="0" err="1"/>
              <a:t>nextx</a:t>
            </a:r>
            <a:r>
              <a:rPr lang="en-GB" b="1" dirty="0"/>
              <a:t> = 0.5 * x + y</a:t>
            </a:r>
          </a:p>
          <a:p>
            <a:pPr lvl="1"/>
            <a:r>
              <a:rPr lang="en-GB" b="1" dirty="0" err="1"/>
              <a:t>nexty</a:t>
            </a:r>
            <a:r>
              <a:rPr lang="en-GB" b="1" dirty="0"/>
              <a:t> = -0.5 * x + y</a:t>
            </a:r>
          </a:p>
          <a:p>
            <a:pPr lvl="1"/>
            <a:r>
              <a:rPr lang="en-GB" b="1" dirty="0"/>
              <a:t> x, y = </a:t>
            </a:r>
            <a:r>
              <a:rPr lang="en-GB" b="1" dirty="0" err="1"/>
              <a:t>nextx</a:t>
            </a:r>
            <a:r>
              <a:rPr lang="en-GB" b="1" dirty="0"/>
              <a:t>, </a:t>
            </a:r>
            <a:r>
              <a:rPr lang="en-GB" b="1" dirty="0" err="1"/>
              <a:t>nexty</a:t>
            </a:r>
            <a:endParaRPr lang="en-GB" b="1" dirty="0"/>
          </a:p>
          <a:p>
            <a:pPr lvl="1"/>
            <a:r>
              <a:rPr lang="en-GB" dirty="0"/>
              <a:t>initialize()</a:t>
            </a:r>
          </a:p>
          <a:p>
            <a:r>
              <a:rPr lang="en-GB" dirty="0"/>
              <a:t>for t in </a:t>
            </a:r>
            <a:r>
              <a:rPr lang="en-GB" dirty="0" err="1"/>
              <a:t>xrange</a:t>
            </a:r>
            <a:r>
              <a:rPr lang="en-GB" dirty="0"/>
              <a:t>(30):</a:t>
            </a:r>
          </a:p>
          <a:p>
            <a:pPr lvl="1"/>
            <a:r>
              <a:rPr lang="en-GB" dirty="0"/>
              <a:t>update()</a:t>
            </a:r>
          </a:p>
          <a:p>
            <a:pPr lvl="1"/>
            <a:r>
              <a:rPr lang="en-GB" dirty="0"/>
              <a:t>observe()</a:t>
            </a:r>
          </a:p>
          <a:p>
            <a:r>
              <a:rPr lang="en-GB" dirty="0"/>
              <a:t>plot(</a:t>
            </a:r>
            <a:r>
              <a:rPr lang="en-GB" dirty="0" err="1"/>
              <a:t>xresult</a:t>
            </a:r>
            <a:r>
              <a:rPr lang="en-GB" dirty="0"/>
              <a:t>, ’b-’)</a:t>
            </a:r>
          </a:p>
          <a:p>
            <a:r>
              <a:rPr lang="en-GB" dirty="0"/>
              <a:t>plot(</a:t>
            </a:r>
            <a:r>
              <a:rPr lang="en-GB" dirty="0" err="1"/>
              <a:t>yresult</a:t>
            </a:r>
            <a:r>
              <a:rPr lang="en-GB" dirty="0"/>
              <a:t>, ’g--’)</a:t>
            </a:r>
          </a:p>
          <a:p>
            <a:r>
              <a:rPr lang="en-GB" dirty="0"/>
              <a:t>show()</a:t>
            </a:r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0D177C-FC98-247F-5DE5-2BC37C8AE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731" y="1867604"/>
            <a:ext cx="4754173" cy="370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76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FFF51-243C-E203-EED7-EE6701ED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E70AB7B9-663D-0101-5FF9-08DF9DA92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7CD8A8-6B20-716A-CBC9-482CF370B214}"/>
              </a:ext>
            </a:extLst>
          </p:cNvPr>
          <p:cNvSpPr txBox="1"/>
          <p:nvPr/>
        </p:nvSpPr>
        <p:spPr>
          <a:xfrm>
            <a:off x="729114" y="216871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plot(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r>
              <a:rPr lang="en-GB" dirty="0"/>
              <a:t>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92EDF4-FCBA-EF21-A8DB-309589FE9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546" y="2345006"/>
            <a:ext cx="5105662" cy="39499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4098AE-380E-E69A-07C5-B8A8A63563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65"/>
          <a:stretch>
            <a:fillRect/>
          </a:stretch>
        </p:blipFill>
        <p:spPr>
          <a:xfrm>
            <a:off x="9615637" y="3938136"/>
            <a:ext cx="2104051" cy="225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17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09C86-CA71-3855-28BA-8BC4D15E1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11CED20F-1511-4D2D-1840-E7B059EFB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C81328-2EE0-5395-DE7E-45A1813A7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901" y="1993824"/>
            <a:ext cx="994289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you play around with the parameters you will notice that </a:t>
            </a:r>
            <a:r>
              <a:rPr lang="en-US" altLang="en-US" dirty="0">
                <a:latin typeface="Arial" panose="020B0604020202020204" pitchFamily="34" charset="0"/>
              </a:rPr>
              <a:t>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nly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set of behaviors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appear in the simulation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ossible behaviors include: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Exponential growth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Exponential decay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Smooth oscillations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 exponentially growing or decaying oscillations)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Explosion: 14 Points 2">
            <a:extLst>
              <a:ext uri="{FF2B5EF4-FFF2-40B4-BE49-F238E27FC236}">
                <a16:creationId xmlns:a16="http://schemas.microsoft.com/office/drawing/2014/main" id="{EAFACB94-FAA6-E4E5-0F16-2C49B107EC28}"/>
              </a:ext>
            </a:extLst>
          </p:cNvPr>
          <p:cNvSpPr/>
          <p:nvPr/>
        </p:nvSpPr>
        <p:spPr>
          <a:xfrm>
            <a:off x="6246796" y="2281188"/>
            <a:ext cx="4408371" cy="2762450"/>
          </a:xfrm>
          <a:prstGeom prst="irregularSeal2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Because the system is LINEAR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40195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0A58C-1C86-4E23-B4CD-8169EE321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41FBC8CD-8B2D-0404-E5D8-247049524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DD16D5-6714-971F-8C8A-926BFFBD76D7}"/>
              </a:ext>
            </a:extLst>
          </p:cNvPr>
          <p:cNvSpPr txBox="1"/>
          <p:nvPr/>
        </p:nvSpPr>
        <p:spPr>
          <a:xfrm>
            <a:off x="1346199" y="2145944"/>
            <a:ext cx="994833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If you aren’t sure where to start, just grab an existing model and tweak it.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Implement each model assumption one by one. Don’t try to reach the final model in one jump.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To implement a new assumption, first identify which part of the model equation represents the quantity you are about to change.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Whenever possible, adopt the simplest mathematical form.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Once your equation is complete, check if it behaves as you desired. It is often helpful to test its </a:t>
            </a:r>
            <a:r>
              <a:rPr lang="en-GB" dirty="0" err="1"/>
              <a:t>behavior</a:t>
            </a:r>
            <a:r>
              <a:rPr lang="en-GB" dirty="0"/>
              <a:t> with extreme values assigned to variables and/or parameters</a:t>
            </a:r>
          </a:p>
        </p:txBody>
      </p:sp>
    </p:spTree>
    <p:extLst>
      <p:ext uri="{BB962C8B-B14F-4D97-AF65-F5344CB8AC3E}">
        <p14:creationId xmlns:p14="http://schemas.microsoft.com/office/powerpoint/2010/main" val="2636164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AC7A7-3641-0828-5592-0043EA4AE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55C38-5EBB-C5D1-F881-E13C42A57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18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5DFB773-83B5-0DC3-545D-43C097BB9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757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sz="2400" b="1" dirty="0"/>
              <a:t>What variables are relevant?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896603-F0F1-5882-5CCE-4A3089A4105C}"/>
              </a:ext>
            </a:extLst>
          </p:cNvPr>
          <p:cNvSpPr txBox="1"/>
          <p:nvPr/>
        </p:nvSpPr>
        <p:spPr>
          <a:xfrm>
            <a:off x="851338" y="1726324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PREDATOR-PREY SYSTEM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7D6DD3-6B02-51E6-2EE3-4C1E0C3136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696" b="41793"/>
          <a:stretch/>
        </p:blipFill>
        <p:spPr>
          <a:xfrm>
            <a:off x="2792465" y="3429000"/>
            <a:ext cx="6800850" cy="1032164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FB6F236-FCDF-887B-9981-671962AD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7070C8C0-60AE-394D-D052-AD5EA4D61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 EXAMPLE</a:t>
            </a:r>
          </a:p>
        </p:txBody>
      </p:sp>
    </p:spTree>
    <p:extLst>
      <p:ext uri="{BB962C8B-B14F-4D97-AF65-F5344CB8AC3E}">
        <p14:creationId xmlns:p14="http://schemas.microsoft.com/office/powerpoint/2010/main" val="369635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59295-0120-4C4E-7078-12D58750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C3E7C-9CC4-1F25-20D1-16596C68C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19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F5B209D-FEDA-BE12-C0BA-DAA61FDCA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7574"/>
            <a:ext cx="10515600" cy="4351338"/>
          </a:xfrm>
        </p:spPr>
        <p:txBody>
          <a:bodyPr/>
          <a:lstStyle/>
          <a:p>
            <a:r>
              <a:rPr lang="en-GB" dirty="0"/>
              <a:t>Prey grows if there are no predators</a:t>
            </a:r>
          </a:p>
          <a:p>
            <a:r>
              <a:rPr lang="en-GB" dirty="0"/>
              <a:t>Predators die if there are no prey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7BD7D-3352-CE6B-5B9A-6AD22B72BB1E}"/>
              </a:ext>
            </a:extLst>
          </p:cNvPr>
          <p:cNvSpPr txBox="1"/>
          <p:nvPr/>
        </p:nvSpPr>
        <p:spPr>
          <a:xfrm>
            <a:off x="838200" y="1611773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PREDATOR-PREY SYSTEM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8DE8E0-4D08-0ADE-0A5B-5BA08CCB30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697"/>
          <a:stretch/>
        </p:blipFill>
        <p:spPr>
          <a:xfrm>
            <a:off x="3817702" y="3733800"/>
            <a:ext cx="6800850" cy="2282112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97733AF-45F1-94C4-D588-B1A3054C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ACCD6C9A-88C0-6ED4-0124-428B68B30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49B7A2-A611-8683-3A4E-E9AE4F185C62}"/>
              </a:ext>
            </a:extLst>
          </p:cNvPr>
          <p:cNvSpPr txBox="1"/>
          <p:nvPr/>
        </p:nvSpPr>
        <p:spPr>
          <a:xfrm>
            <a:off x="1124133" y="5646580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How do variables behave?</a:t>
            </a:r>
          </a:p>
        </p:txBody>
      </p:sp>
    </p:spTree>
    <p:extLst>
      <p:ext uri="{BB962C8B-B14F-4D97-AF65-F5344CB8AC3E}">
        <p14:creationId xmlns:p14="http://schemas.microsoft.com/office/powerpoint/2010/main" val="105191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CE9EB-F6CB-3CF4-3465-5A23F767A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EA60B-634E-570C-BEAC-6E8588778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D05E1-7D49-1C60-B355-000870913C47}"/>
              </a:ext>
            </a:extLst>
          </p:cNvPr>
          <p:cNvSpPr txBox="1"/>
          <p:nvPr/>
        </p:nvSpPr>
        <p:spPr>
          <a:xfrm>
            <a:off x="851338" y="1726324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PREDATOR-PREY SYSTEM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9972DE-CF9B-26BF-CC9B-3EA5C90A55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697"/>
          <a:stretch/>
        </p:blipFill>
        <p:spPr>
          <a:xfrm>
            <a:off x="3817702" y="3733800"/>
            <a:ext cx="6800850" cy="2282112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5AD551E-B58E-5431-A406-5AB38703D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78BD07BF-5492-9D23-7C81-7DF2D081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58D452-D772-8E72-96C2-40A4A6770100}"/>
              </a:ext>
            </a:extLst>
          </p:cNvPr>
          <p:cNvSpPr txBox="1"/>
          <p:nvPr/>
        </p:nvSpPr>
        <p:spPr>
          <a:xfrm>
            <a:off x="129755" y="551141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How do variables INTERACT?</a:t>
            </a:r>
          </a:p>
        </p:txBody>
      </p:sp>
    </p:spTree>
    <p:extLst>
      <p:ext uri="{BB962C8B-B14F-4D97-AF65-F5344CB8AC3E}">
        <p14:creationId xmlns:p14="http://schemas.microsoft.com/office/powerpoint/2010/main" val="75670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72665-3D53-393D-19EF-7AF0CB3A3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9BE85E-0FEC-E9FA-E47C-ADC4BBEB64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038"/>
          <a:stretch/>
        </p:blipFill>
        <p:spPr>
          <a:xfrm>
            <a:off x="3295650" y="3178633"/>
            <a:ext cx="5600700" cy="295234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CFA39-C7C8-7461-21DF-03989BAF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21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AB92DE-FFB0-49A8-50D1-1ADAB867F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062" y="2141537"/>
            <a:ext cx="10515600" cy="4351338"/>
          </a:xfrm>
        </p:spPr>
        <p:txBody>
          <a:bodyPr>
            <a:normAutofit/>
          </a:bodyPr>
          <a:lstStyle/>
          <a:p>
            <a:r>
              <a:rPr lang="en-GB" sz="2000" dirty="0"/>
              <a:t>The prey’s death rate increases as the predator population increases</a:t>
            </a:r>
          </a:p>
          <a:p>
            <a:r>
              <a:rPr lang="en-GB" sz="2000" dirty="0"/>
              <a:t>The predators’ growth rate increases as the prey population increases.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7C57B4-E1CF-68F1-DECB-FDD4447AA438}"/>
              </a:ext>
            </a:extLst>
          </p:cNvPr>
          <p:cNvSpPr txBox="1"/>
          <p:nvPr/>
        </p:nvSpPr>
        <p:spPr>
          <a:xfrm>
            <a:off x="851338" y="1726324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PREDATOR-PREY SYSTEM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D76BE9A-FFD7-F5D3-82A8-8F21C84D1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33F9B715-631F-8D6A-D70B-8686788A4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 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7E14C8-7A74-94BC-F985-A8BB241C8DE7}"/>
              </a:ext>
            </a:extLst>
          </p:cNvPr>
          <p:cNvSpPr txBox="1"/>
          <p:nvPr/>
        </p:nvSpPr>
        <p:spPr>
          <a:xfrm>
            <a:off x="129755" y="551141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How do variables INTERACT?</a:t>
            </a:r>
          </a:p>
        </p:txBody>
      </p:sp>
    </p:spTree>
    <p:extLst>
      <p:ext uri="{BB962C8B-B14F-4D97-AF65-F5344CB8AC3E}">
        <p14:creationId xmlns:p14="http://schemas.microsoft.com/office/powerpoint/2010/main" val="3754406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2783F-8609-E15A-277B-89197532C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DF440-FEF1-9568-933F-FC9FF94C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22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4A78578-517E-A14E-849C-579ECF61A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338" y="2459641"/>
            <a:ext cx="10515600" cy="4351338"/>
          </a:xfrm>
        </p:spPr>
        <p:txBody>
          <a:bodyPr>
            <a:normAutofit/>
          </a:bodyPr>
          <a:lstStyle/>
          <a:p>
            <a:r>
              <a:rPr lang="en-GB" sz="2000" dirty="0"/>
              <a:t>The prey’s death rate increases as the predator population increases</a:t>
            </a:r>
          </a:p>
          <a:p>
            <a:endParaRPr lang="en-GB" sz="2000" dirty="0"/>
          </a:p>
          <a:p>
            <a:r>
              <a:rPr lang="en-GB" sz="2000" dirty="0"/>
              <a:t>The predators’ growth rate increases as the prey population increases.</a:t>
            </a:r>
          </a:p>
          <a:p>
            <a:endParaRPr lang="en-GB" sz="2000" dirty="0"/>
          </a:p>
          <a:p>
            <a:r>
              <a:rPr lang="en-GB" sz="2000" dirty="0"/>
              <a:t>Prey grows if there are no predators</a:t>
            </a:r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Predators die if there are no prey</a:t>
            </a:r>
          </a:p>
          <a:p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1AE8E-315A-438F-29F6-DD4DA724F47A}"/>
              </a:ext>
            </a:extLst>
          </p:cNvPr>
          <p:cNvSpPr txBox="1"/>
          <p:nvPr/>
        </p:nvSpPr>
        <p:spPr>
          <a:xfrm>
            <a:off x="851338" y="1499867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PREDATOR-PREY SYSTEM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CF1BA6-4728-EDFD-80CA-392CDFC2D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752" y="2730991"/>
            <a:ext cx="4972050" cy="495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6EF721-D6D1-6658-5D89-14462F34E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752" y="3664156"/>
            <a:ext cx="2743200" cy="3905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67B3D9-D0D4-1582-0063-C0BCCF6B2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6752" y="4635310"/>
            <a:ext cx="6124575" cy="4286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64123C-52C3-98BB-30AC-6F55F1165E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3791" y="5761741"/>
            <a:ext cx="4476750" cy="457200"/>
          </a:xfrm>
          <a:prstGeom prst="rect">
            <a:avLst/>
          </a:prstGeom>
        </p:spPr>
      </p:pic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132C16B-748B-C457-0F99-11989A9AD8DC}"/>
              </a:ext>
            </a:extLst>
          </p:cNvPr>
          <p:cNvCxnSpPr>
            <a:endCxn id="15" idx="3"/>
          </p:cNvCxnSpPr>
          <p:nvPr/>
        </p:nvCxnSpPr>
        <p:spPr>
          <a:xfrm rot="16200000" flipH="1">
            <a:off x="7789573" y="3337869"/>
            <a:ext cx="1870982" cy="1152525"/>
          </a:xfrm>
          <a:prstGeom prst="bentConnector4">
            <a:avLst>
              <a:gd name="adj1" fmla="val -594"/>
              <a:gd name="adj2" fmla="val 1198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5EC351A-87A0-8893-1EAE-C38E3C1753FA}"/>
              </a:ext>
            </a:extLst>
          </p:cNvPr>
          <p:cNvCxnSpPr>
            <a:endCxn id="17" idx="3"/>
          </p:cNvCxnSpPr>
          <p:nvPr/>
        </p:nvCxnSpPr>
        <p:spPr>
          <a:xfrm rot="16200000" flipH="1">
            <a:off x="5905936" y="4155736"/>
            <a:ext cx="1935660" cy="1733550"/>
          </a:xfrm>
          <a:prstGeom prst="bentConnector4">
            <a:avLst>
              <a:gd name="adj1" fmla="val -1209"/>
              <a:gd name="adj2" fmla="val 2454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BE20290-1322-02B6-9C12-F29B312DB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C104717C-36D2-D47A-DCDD-E8F395F25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 EXAMPLE</a:t>
            </a:r>
          </a:p>
        </p:txBody>
      </p:sp>
    </p:spTree>
    <p:extLst>
      <p:ext uri="{BB962C8B-B14F-4D97-AF65-F5344CB8AC3E}">
        <p14:creationId xmlns:p14="http://schemas.microsoft.com/office/powerpoint/2010/main" val="238649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09CC2-7F2F-879A-5EDE-1B2FAD442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1A847-9A51-D27C-4FB3-CB92696C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23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991BD0E-7677-2DA0-2726-4406B4FBA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5567" y="3429000"/>
            <a:ext cx="4351050" cy="3636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The growth rate of the predators should be 0 if there are no prey, while it can go up indefinitely as the prey population increases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27EC7D-5022-8C6E-4E13-BAE01188F115}"/>
              </a:ext>
            </a:extLst>
          </p:cNvPr>
          <p:cNvSpPr txBox="1"/>
          <p:nvPr/>
        </p:nvSpPr>
        <p:spPr>
          <a:xfrm>
            <a:off x="851338" y="1726324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PREDATOR-PREY SYSTEM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A50C85-FA21-ACE7-5ADB-AE67BDE68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411485"/>
            <a:ext cx="6124575" cy="4286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FE7747-7410-16A2-F304-3B772275E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04" y="2840110"/>
            <a:ext cx="4476750" cy="457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03CE7D-BCB5-872F-32F4-ACF79290191B}"/>
              </a:ext>
            </a:extLst>
          </p:cNvPr>
          <p:cNvSpPr txBox="1"/>
          <p:nvPr/>
        </p:nvSpPr>
        <p:spPr>
          <a:xfrm>
            <a:off x="715383" y="3494780"/>
            <a:ext cx="4539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death rate of the prey should be 0 if there are no predators, while it should approach 1 (= 100% mortality rate!) if there are too many predators.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E97FF8C-9A07-8032-C68E-93A2DC519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886" y="4892579"/>
            <a:ext cx="2228850" cy="7905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3F8F73E-05D8-20C5-8441-39500C4B78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8272" y="5006878"/>
            <a:ext cx="1266825" cy="561975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ADE2D1D-28D7-D6A9-755F-CD9DC2750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25E57ED4-E6EC-F7A1-67ED-F1E57B820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 EXAMPLE</a:t>
            </a:r>
          </a:p>
        </p:txBody>
      </p:sp>
    </p:spTree>
    <p:extLst>
      <p:ext uri="{BB962C8B-B14F-4D97-AF65-F5344CB8AC3E}">
        <p14:creationId xmlns:p14="http://schemas.microsoft.com/office/powerpoint/2010/main" val="38844201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9F7AF-8F23-D7C6-8FD7-D70E0E9A1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F995AD0-C28E-FF99-A235-92E96A99F13B}"/>
              </a:ext>
            </a:extLst>
          </p:cNvPr>
          <p:cNvSpPr txBox="1"/>
          <p:nvPr/>
        </p:nvSpPr>
        <p:spPr>
          <a:xfrm>
            <a:off x="851338" y="1726324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PREDATOR-PREY SYSTEM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A92ECE8-DB24-98CA-540B-7E0747555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94A56BB8-A2F0-EC18-49B6-D30D845B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-MODELING- EXAMPLE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041683-7523-F229-CFE3-691093543E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773" y="2386591"/>
            <a:ext cx="9193856" cy="330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124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BEDA5-08DC-9EF1-D10B-20398CEC2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77AEF2E6-80BC-9485-E20C-6E5519C13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06" y="3247164"/>
            <a:ext cx="5860983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</a:t>
            </a:r>
            <a:br>
              <a:rPr lang="en-GB" sz="4800" dirty="0"/>
            </a:br>
            <a:r>
              <a:rPr lang="en-GB" sz="4800" dirty="0"/>
              <a:t>DISCRETE TIME</a:t>
            </a:r>
            <a:br>
              <a:rPr lang="en-GB" sz="4800" dirty="0"/>
            </a:br>
            <a:r>
              <a:rPr lang="en-GB" sz="4800" dirty="0"/>
              <a:t>SYSTEMS</a:t>
            </a:r>
            <a:br>
              <a:rPr lang="en-GB" sz="4800" dirty="0"/>
            </a:br>
            <a:br>
              <a:rPr lang="en-GB" sz="4800" dirty="0"/>
            </a:br>
            <a:r>
              <a:rPr lang="en-GB" sz="4800" dirty="0"/>
              <a:t>-ANALYSIS-</a:t>
            </a:r>
          </a:p>
        </p:txBody>
      </p:sp>
    </p:spTree>
    <p:extLst>
      <p:ext uri="{BB962C8B-B14F-4D97-AF65-F5344CB8AC3E}">
        <p14:creationId xmlns:p14="http://schemas.microsoft.com/office/powerpoint/2010/main" val="3627506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8E1E-3D1E-854E-F561-F462A7A91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9FD6D3-D8D4-0D12-5033-98B030440495}"/>
              </a:ext>
            </a:extLst>
          </p:cNvPr>
          <p:cNvSpPr txBox="1"/>
          <p:nvPr/>
        </p:nvSpPr>
        <p:spPr>
          <a:xfrm>
            <a:off x="851338" y="1726324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EQUILIBRIA (EQUILIBRIUM POINTS)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AA23886-714E-9A09-45AC-A21B8388A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5EFACF54-4217-0513-AB2B-801F10515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5DEB1-F74B-EFC9-5AD5-ED64D6BC0039}"/>
              </a:ext>
            </a:extLst>
          </p:cNvPr>
          <p:cNvSpPr txBox="1"/>
          <p:nvPr/>
        </p:nvSpPr>
        <p:spPr>
          <a:xfrm>
            <a:off x="851338" y="2308178"/>
            <a:ext cx="97725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Equilibrium points are important for both theoretical and practical reasons. 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They are key points in the system’s phase space, which serve as meaningful references when we understand the structure of the phase space.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There are many situations where we want to sustain the system at a certain state that is desirable for us.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			Is the desired stable or unstable.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02E42E-0D91-5B29-B20F-90C6E8650BB8}"/>
              </a:ext>
            </a:extLst>
          </p:cNvPr>
          <p:cNvCxnSpPr/>
          <p:nvPr/>
        </p:nvCxnSpPr>
        <p:spPr>
          <a:xfrm>
            <a:off x="5603358" y="4316819"/>
            <a:ext cx="0" cy="372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8552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6BC7F-3CB1-2A6C-8F1F-4F90E15E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48A582F-A4AD-0227-03A5-E4300881786A}"/>
              </a:ext>
            </a:extLst>
          </p:cNvPr>
          <p:cNvSpPr txBox="1"/>
          <p:nvPr/>
        </p:nvSpPr>
        <p:spPr>
          <a:xfrm>
            <a:off x="851338" y="1726324"/>
            <a:ext cx="465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EQUILIBRIA (EQUILIBRIUM POINTS)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41580A1-19B9-0137-CB98-2D287D96D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B77FCFC-5A42-FAF7-CE7E-13D1F7608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25476E-DA85-5392-2B39-AE479D390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918" y="2743135"/>
            <a:ext cx="4352921" cy="26458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1D3B1D-316F-513A-C228-BC0FBCDAC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113" y="2661759"/>
            <a:ext cx="1276350" cy="476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C3A119-2DE4-288A-6454-D39C5EE6C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8113" y="3151942"/>
            <a:ext cx="2886075" cy="600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B1A906-2E5D-95B4-559D-7201796EEC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113" y="3896468"/>
            <a:ext cx="2952750" cy="5238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A23230-8C6B-2119-8088-2983A45653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8113" y="4493695"/>
            <a:ext cx="2047875" cy="5619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ED684A-D8FA-2874-7E36-DA5A41F36D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7638" y="5193765"/>
            <a:ext cx="1466850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3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B5D52-EB53-B61F-3514-434CED79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BCB21F1-A4D9-C858-6FD4-E52070823B96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EQUILIBRIA (EQUILIBRIUM POINTS) AND PHASE SPACE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08FD5A-7603-1013-D9CD-578349FD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r>
              <a:rPr lang="en-US" dirty="0"/>
              <a:t>System thinking through speculative design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12BA7429-C26B-59C4-635C-D2C1C8CDF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6AB47D42-830A-03F4-BDA1-E6A293751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383" y="2517843"/>
            <a:ext cx="1064265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Discrete-time systems with continuous state variables can be visualized using computer simulations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initial condition X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 produces one trajectory in the same phase space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single trajectory shows only local behavior, not the global dynamics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Running simulations from many initial conditions reveals: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attractors and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repellers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basins of attraction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large-scale structure of the phase space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implemented by sweeping initial values (and/or parameters) in simulation loops</a:t>
            </a:r>
          </a:p>
        </p:txBody>
      </p:sp>
    </p:spTree>
    <p:extLst>
      <p:ext uri="{BB962C8B-B14F-4D97-AF65-F5344CB8AC3E}">
        <p14:creationId xmlns:p14="http://schemas.microsoft.com/office/powerpoint/2010/main" val="14316496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21CEDD7-4BE2-3CA2-B724-432359ABA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39" y="2386591"/>
            <a:ext cx="5105662" cy="39499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7DFCB3-AACE-5315-39E0-EAD4EE9ED350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EQUILIBRIA (EQUILIBRIUM POINTS) AND PHASE SPACE</a:t>
            </a:r>
            <a:endParaRPr lang="en-GB" dirty="0"/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BF567C91-FA68-5DD6-146F-B42C65187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8137AF-F791-1FD7-3E9B-83B8143F115F}"/>
              </a:ext>
            </a:extLst>
          </p:cNvPr>
          <p:cNvSpPr txBox="1"/>
          <p:nvPr/>
        </p:nvSpPr>
        <p:spPr>
          <a:xfrm>
            <a:off x="8864065" y="349960"/>
            <a:ext cx="609760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from </a:t>
            </a:r>
            <a:r>
              <a:rPr lang="en-GB" dirty="0" err="1"/>
              <a:t>pylab</a:t>
            </a:r>
            <a:r>
              <a:rPr lang="en-GB" dirty="0"/>
              <a:t> import *</a:t>
            </a:r>
          </a:p>
          <a:p>
            <a:r>
              <a:rPr lang="en-GB" dirty="0"/>
              <a:t>def initialize():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/>
              <a:t>x = 1.</a:t>
            </a:r>
          </a:p>
          <a:p>
            <a:pPr lvl="1"/>
            <a:r>
              <a:rPr lang="en-GB" dirty="0"/>
              <a:t>y = 1.</a:t>
            </a:r>
          </a:p>
          <a:p>
            <a:pPr lvl="1"/>
            <a:r>
              <a:rPr lang="en-GB" dirty="0" err="1"/>
              <a:t>xresult</a:t>
            </a:r>
            <a:r>
              <a:rPr lang="en-GB" dirty="0"/>
              <a:t> = [x]</a:t>
            </a:r>
          </a:p>
          <a:p>
            <a:pPr lvl="1"/>
            <a:r>
              <a:rPr lang="en-GB" dirty="0" err="1"/>
              <a:t>yresult</a:t>
            </a:r>
            <a:r>
              <a:rPr lang="en-GB" dirty="0"/>
              <a:t> = [y]</a:t>
            </a:r>
          </a:p>
          <a:p>
            <a:r>
              <a:rPr lang="en-GB" dirty="0"/>
              <a:t>def observe():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 err="1"/>
              <a:t>xresult.append</a:t>
            </a:r>
            <a:r>
              <a:rPr lang="en-GB" dirty="0"/>
              <a:t>(x)</a:t>
            </a:r>
          </a:p>
          <a:p>
            <a:pPr lvl="1"/>
            <a:r>
              <a:rPr lang="en-GB" dirty="0" err="1"/>
              <a:t>yresult.append</a:t>
            </a:r>
            <a:r>
              <a:rPr lang="en-GB" dirty="0"/>
              <a:t>(y)</a:t>
            </a:r>
          </a:p>
          <a:p>
            <a:r>
              <a:rPr lang="en-GB" dirty="0"/>
              <a:t>def update():</a:t>
            </a:r>
          </a:p>
          <a:p>
            <a:pPr lvl="1"/>
            <a:r>
              <a:rPr lang="en-GB" dirty="0"/>
              <a:t>global x, y, </a:t>
            </a:r>
            <a:r>
              <a:rPr lang="en-GB" dirty="0" err="1"/>
              <a:t>xresult</a:t>
            </a:r>
            <a:r>
              <a:rPr lang="en-GB" dirty="0"/>
              <a:t>, </a:t>
            </a:r>
            <a:r>
              <a:rPr lang="en-GB" dirty="0" err="1"/>
              <a:t>yresult</a:t>
            </a:r>
            <a:endParaRPr lang="en-GB" dirty="0"/>
          </a:p>
          <a:p>
            <a:pPr lvl="1"/>
            <a:r>
              <a:rPr lang="en-GB" dirty="0" err="1"/>
              <a:t>nextx</a:t>
            </a:r>
            <a:r>
              <a:rPr lang="en-GB" dirty="0"/>
              <a:t> = 0.5 * x + y</a:t>
            </a:r>
          </a:p>
          <a:p>
            <a:pPr lvl="1"/>
            <a:r>
              <a:rPr lang="en-GB" dirty="0" err="1"/>
              <a:t>nexty</a:t>
            </a:r>
            <a:r>
              <a:rPr lang="en-GB" dirty="0"/>
              <a:t> = -0.5 * x + y</a:t>
            </a:r>
          </a:p>
          <a:p>
            <a:pPr lvl="1"/>
            <a:r>
              <a:rPr lang="en-GB" dirty="0"/>
              <a:t> x, y = </a:t>
            </a:r>
            <a:r>
              <a:rPr lang="en-GB" dirty="0" err="1"/>
              <a:t>nextx</a:t>
            </a:r>
            <a:r>
              <a:rPr lang="en-GB" dirty="0"/>
              <a:t>, </a:t>
            </a:r>
            <a:r>
              <a:rPr lang="en-GB" dirty="0" err="1"/>
              <a:t>nexty</a:t>
            </a:r>
            <a:endParaRPr lang="en-GB" dirty="0"/>
          </a:p>
          <a:p>
            <a:pPr lvl="1"/>
            <a:r>
              <a:rPr lang="en-GB" dirty="0"/>
              <a:t>initialize()</a:t>
            </a:r>
          </a:p>
          <a:p>
            <a:r>
              <a:rPr lang="en-GB" dirty="0"/>
              <a:t>for t in </a:t>
            </a:r>
            <a:r>
              <a:rPr lang="en-GB" dirty="0" err="1"/>
              <a:t>xrange</a:t>
            </a:r>
            <a:r>
              <a:rPr lang="en-GB" dirty="0"/>
              <a:t>(30):</a:t>
            </a:r>
          </a:p>
          <a:p>
            <a:pPr lvl="1"/>
            <a:r>
              <a:rPr lang="en-GB" dirty="0"/>
              <a:t>update()</a:t>
            </a:r>
          </a:p>
          <a:p>
            <a:pPr lvl="1"/>
            <a:r>
              <a:rPr lang="en-GB" dirty="0"/>
              <a:t>observe()</a:t>
            </a:r>
          </a:p>
          <a:p>
            <a:r>
              <a:rPr lang="en-GB" dirty="0"/>
              <a:t>plot(</a:t>
            </a:r>
            <a:r>
              <a:rPr lang="en-GB" dirty="0" err="1"/>
              <a:t>xresult</a:t>
            </a:r>
            <a:r>
              <a:rPr lang="en-GB" dirty="0"/>
              <a:t>, ’b-’)</a:t>
            </a:r>
          </a:p>
          <a:p>
            <a:r>
              <a:rPr lang="en-GB" dirty="0"/>
              <a:t>plot(</a:t>
            </a:r>
            <a:r>
              <a:rPr lang="en-GB" dirty="0" err="1"/>
              <a:t>yresult</a:t>
            </a:r>
            <a:r>
              <a:rPr lang="en-GB" dirty="0"/>
              <a:t>, ’g--’)</a:t>
            </a:r>
          </a:p>
          <a:p>
            <a:r>
              <a:rPr lang="en-GB" dirty="0"/>
              <a:t>show()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4600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A6E7E-A79C-FA75-A2BC-E2F42515B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7A5FFF-33B3-E4CF-686D-6D42204D8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17" y="2524815"/>
            <a:ext cx="3070910" cy="23757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5DED69A-E7CB-0630-EB88-A8112089D181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EQUILIBRIA (EQUILIBRIUM POINTS) AND PHASE SPACE</a:t>
            </a:r>
            <a:endParaRPr lang="en-GB" dirty="0"/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DFDBAD7A-D801-BFE4-F7A8-CA25030D8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EE81C5-CFE5-7A7E-9D5A-7744F99CA3F8}"/>
              </a:ext>
            </a:extLst>
          </p:cNvPr>
          <p:cNvSpPr txBox="1"/>
          <p:nvPr/>
        </p:nvSpPr>
        <p:spPr>
          <a:xfrm>
            <a:off x="9098812" y="3157617"/>
            <a:ext cx="31817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baseline="0" dirty="0">
                <a:latin typeface="CMTT12"/>
              </a:rPr>
              <a:t>for x0 in </a:t>
            </a:r>
            <a:r>
              <a:rPr lang="en-GB" sz="1800" b="0" i="0" u="none" strike="noStrike" baseline="0" dirty="0" err="1">
                <a:latin typeface="CMTT12"/>
              </a:rPr>
              <a:t>arange</a:t>
            </a:r>
            <a:r>
              <a:rPr lang="en-GB" sz="1800" b="0" i="0" u="none" strike="noStrike" baseline="0" dirty="0">
                <a:latin typeface="CMTT12"/>
              </a:rPr>
              <a:t>(-2, 2, .5): </a:t>
            </a:r>
            <a:r>
              <a:rPr lang="en-GB" sz="1800" b="0" i="0" u="none" strike="noStrike" baseline="0" dirty="0">
                <a:latin typeface="CMITT10"/>
              </a:rPr>
              <a:t>###</a:t>
            </a:r>
          </a:p>
          <a:p>
            <a:pPr algn="l"/>
            <a:r>
              <a:rPr lang="en-GB" sz="1800" b="0" i="0" u="none" strike="noStrike" baseline="0" dirty="0">
                <a:latin typeface="CMTT12"/>
              </a:rPr>
              <a:t>for y0 in </a:t>
            </a:r>
            <a:r>
              <a:rPr lang="en-GB" sz="1800" b="0" i="0" u="none" strike="noStrike" baseline="0" dirty="0" err="1">
                <a:latin typeface="CMTT12"/>
              </a:rPr>
              <a:t>arange</a:t>
            </a:r>
            <a:r>
              <a:rPr lang="en-GB" sz="1800" b="0" i="0" u="none" strike="noStrike" baseline="0" dirty="0">
                <a:latin typeface="CMTT12"/>
              </a:rPr>
              <a:t>(-2, 2, .5): </a:t>
            </a:r>
            <a:r>
              <a:rPr lang="en-GB" sz="1800" b="0" i="0" u="none" strike="noStrike" baseline="0" dirty="0">
                <a:latin typeface="CMITT10"/>
              </a:rPr>
              <a:t>###</a:t>
            </a:r>
          </a:p>
          <a:p>
            <a:pPr algn="l"/>
            <a:r>
              <a:rPr lang="en-GB" sz="1800" b="0" i="0" u="none" strike="noStrike" baseline="0" dirty="0">
                <a:latin typeface="CMTT12"/>
              </a:rPr>
              <a:t>initialize(x0, y0) </a:t>
            </a:r>
            <a:r>
              <a:rPr lang="en-GB" sz="1800" b="0" i="0" u="none" strike="noStrike" baseline="0" dirty="0">
                <a:latin typeface="CMITT10"/>
              </a:rPr>
              <a:t>###</a:t>
            </a:r>
          </a:p>
          <a:p>
            <a:pPr algn="l"/>
            <a:r>
              <a:rPr lang="de-DE" sz="1800" b="0" i="0" u="none" strike="noStrike" baseline="0" dirty="0">
                <a:latin typeface="CMTT12"/>
              </a:rPr>
              <a:t>for t in xrange(30):</a:t>
            </a:r>
          </a:p>
          <a:p>
            <a:pPr algn="l"/>
            <a:r>
              <a:rPr lang="en-GB" sz="1800" b="0" i="0" u="none" strike="noStrike" baseline="0" dirty="0">
                <a:latin typeface="CMTT12"/>
              </a:rPr>
              <a:t>update()</a:t>
            </a:r>
          </a:p>
          <a:p>
            <a:pPr algn="l"/>
            <a:r>
              <a:rPr lang="en-GB" sz="1800" b="0" i="0" u="none" strike="noStrike" baseline="0" dirty="0">
                <a:latin typeface="CMTT12"/>
              </a:rPr>
              <a:t>observe()</a:t>
            </a:r>
          </a:p>
          <a:p>
            <a:pPr algn="l"/>
            <a:r>
              <a:rPr lang="en-GB" sz="1800" b="0" i="0" u="none" strike="noStrike" baseline="0" dirty="0">
                <a:latin typeface="CMTT12"/>
              </a:rPr>
              <a:t>plot(</a:t>
            </a:r>
            <a:r>
              <a:rPr lang="en-GB" sz="1800" b="0" i="0" u="none" strike="noStrike" baseline="0" dirty="0" err="1">
                <a:latin typeface="CMTT12"/>
              </a:rPr>
              <a:t>xresult</a:t>
            </a:r>
            <a:r>
              <a:rPr lang="en-GB" sz="1800" b="0" i="0" u="none" strike="noStrike" baseline="0" dirty="0">
                <a:latin typeface="CMTT12"/>
              </a:rPr>
              <a:t>, </a:t>
            </a:r>
            <a:r>
              <a:rPr lang="en-GB" sz="1800" b="0" i="0" u="none" strike="noStrike" baseline="0" dirty="0" err="1">
                <a:latin typeface="CMTT12"/>
              </a:rPr>
              <a:t>yresult</a:t>
            </a:r>
            <a:r>
              <a:rPr lang="en-GB" sz="1800" b="0" i="0" u="none" strike="noStrike" baseline="0" dirty="0">
                <a:latin typeface="CMTT12"/>
              </a:rPr>
              <a:t>, 'b') </a:t>
            </a:r>
            <a:r>
              <a:rPr lang="en-GB" sz="1800" b="0" i="0" u="none" strike="noStrike" baseline="0" dirty="0">
                <a:latin typeface="CMITT10"/>
              </a:rPr>
              <a:t>###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5E1B16-73F2-DA37-121A-985938D52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196" y="2301530"/>
            <a:ext cx="5073678" cy="394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354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45BEF-E132-DCBD-CD8A-165860B97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213C116-3F09-8D39-C485-A63054F512CF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COBWEB PLOTS</a:t>
            </a:r>
            <a:endParaRPr lang="en-GB" dirty="0"/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17A2F31A-7698-9808-A682-1B605ED3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1" y="109826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A7484F-DE77-8526-0D33-E8C6C2C91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18" y="2121791"/>
            <a:ext cx="3867150" cy="36861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7110F7-3EBB-9524-7ED4-B97FEDB3C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947" y="2495006"/>
            <a:ext cx="2600325" cy="2676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73D34E-5432-54C9-57E6-22812667F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5272" y="2552155"/>
            <a:ext cx="2600325" cy="2562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A59FF8-81A6-D21F-1A9E-BEB54644DB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1582" y="2480717"/>
            <a:ext cx="27051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56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C8C380-D8ED-64AD-9D9F-D09A3191A649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COBWEB PLOTS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3EB380-FE5D-62A8-12EF-453098F6C0D6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/>
            </a:br>
            <a:r>
              <a:rPr lang="en-GB" sz="4800"/>
              <a:t>LOW VARIABLES #,  DISCRETE TIME</a:t>
            </a:r>
            <a:br>
              <a:rPr lang="en-GB" sz="4800"/>
            </a:br>
            <a:r>
              <a:rPr lang="en-GB" sz="4800"/>
              <a:t>SYSTEMS -ANALYSIS -</a:t>
            </a:r>
            <a:endParaRPr lang="en-GB" sz="4800" dirty="0"/>
          </a:p>
        </p:txBody>
      </p:sp>
      <p:pic>
        <p:nvPicPr>
          <p:cNvPr id="2052" name="Picture 4" descr="cobweb plot for the logistic map with x0=0.2, r=3.8">
            <a:extLst>
              <a:ext uri="{FF2B5EF4-FFF2-40B4-BE49-F238E27FC236}">
                <a16:creationId xmlns:a16="http://schemas.microsoft.com/office/drawing/2014/main" id="{ADBC8F20-3B9E-5E3F-1A67-96C009ED1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2" y="2095656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FA8F2E-2CB6-98C2-CC95-BF72D73635C9}"/>
              </a:ext>
            </a:extLst>
          </p:cNvPr>
          <p:cNvSpPr txBox="1"/>
          <p:nvPr/>
        </p:nvSpPr>
        <p:spPr>
          <a:xfrm>
            <a:off x="7751136" y="424364"/>
            <a:ext cx="6097772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GB" sz="600" b="0" i="0" dirty="0">
                <a:effectLst/>
              </a:rPr>
              <a:t>import </a:t>
            </a:r>
            <a:r>
              <a:rPr lang="en-GB" sz="600" b="0" i="0" dirty="0" err="1">
                <a:effectLst/>
              </a:rPr>
              <a:t>numpy</a:t>
            </a:r>
            <a:r>
              <a:rPr lang="en-GB" sz="600" b="0" i="0" dirty="0">
                <a:effectLst/>
              </a:rPr>
              <a:t> as np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from matplotlib import </a:t>
            </a:r>
            <a:r>
              <a:rPr lang="en-GB" sz="600" b="0" i="0" dirty="0" err="1">
                <a:effectLst/>
              </a:rPr>
              <a:t>rc</a:t>
            </a: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import </a:t>
            </a:r>
            <a:r>
              <a:rPr lang="en-GB" sz="600" b="0" i="0" dirty="0" err="1">
                <a:effectLst/>
              </a:rPr>
              <a:t>matplotlib.pyplot</a:t>
            </a:r>
            <a:r>
              <a:rPr lang="en-GB" sz="600" b="0" i="0" dirty="0">
                <a:effectLst/>
              </a:rPr>
              <a:t> as </a:t>
            </a:r>
            <a:r>
              <a:rPr lang="en-GB" sz="600" b="0" i="0" dirty="0" err="1">
                <a:effectLst/>
              </a:rPr>
              <a:t>plt</a:t>
            </a:r>
            <a:endParaRPr lang="en-GB" sz="600" b="0" i="0" dirty="0">
              <a:effectLst/>
            </a:endParaRP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# Use LaTeX throughout the figure for consistency</a:t>
            </a:r>
          </a:p>
          <a:p>
            <a:pPr algn="l" latinLnBrk="0">
              <a:buNone/>
            </a:pPr>
            <a:r>
              <a:rPr lang="en-GB" sz="600" b="0" i="0" dirty="0" err="1">
                <a:effectLst/>
              </a:rPr>
              <a:t>rc</a:t>
            </a:r>
            <a:r>
              <a:rPr lang="en-GB" sz="600" b="0" i="0" dirty="0">
                <a:effectLst/>
              </a:rPr>
              <a:t>('font', **{'family': 'serif', 'serif': ['Computer Modern'], 'size': 16})</a:t>
            </a:r>
          </a:p>
          <a:p>
            <a:pPr algn="l" latinLnBrk="0">
              <a:buNone/>
            </a:pPr>
            <a:r>
              <a:rPr lang="en-GB" sz="600" b="0" i="0" dirty="0" err="1">
                <a:effectLst/>
              </a:rPr>
              <a:t>rc</a:t>
            </a:r>
            <a:r>
              <a:rPr lang="en-GB" sz="600" b="0" i="0" dirty="0">
                <a:effectLst/>
              </a:rPr>
              <a:t>('text', </a:t>
            </a:r>
            <a:r>
              <a:rPr lang="en-GB" sz="600" b="0" i="0" dirty="0" err="1">
                <a:effectLst/>
              </a:rPr>
              <a:t>usetex</a:t>
            </a:r>
            <a:r>
              <a:rPr lang="en-GB" sz="600" b="0" i="0" dirty="0">
                <a:effectLst/>
              </a:rPr>
              <a:t>=True)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# Figure dpi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dpi = 72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def </a:t>
            </a:r>
            <a:r>
              <a:rPr lang="en-GB" sz="600" b="0" i="0" dirty="0" err="1">
                <a:effectLst/>
              </a:rPr>
              <a:t>plot_cobweb</a:t>
            </a:r>
            <a:r>
              <a:rPr lang="en-GB" sz="600" b="0" i="0" dirty="0">
                <a:effectLst/>
              </a:rPr>
              <a:t>(f, r, x0, </a:t>
            </a:r>
            <a:r>
              <a:rPr lang="en-GB" sz="600" b="0" i="0" dirty="0" err="1">
                <a:effectLst/>
              </a:rPr>
              <a:t>nmax</a:t>
            </a:r>
            <a:r>
              <a:rPr lang="en-GB" sz="600" b="0" i="0" dirty="0">
                <a:effectLst/>
              </a:rPr>
              <a:t>=40):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"""Make a cobweb plot.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Plot y = f(x; r) and y = x for 0 &lt;= x &lt;= 1, and illustrate the behaviour of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iterating x = f(x) starting at x = x0. r is a parameter to the function.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"""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x = </a:t>
            </a:r>
            <a:r>
              <a:rPr lang="en-GB" sz="600" b="0" i="0" dirty="0" err="1">
                <a:effectLst/>
              </a:rPr>
              <a:t>np.linspace</a:t>
            </a:r>
            <a:r>
              <a:rPr lang="en-GB" sz="600" b="0" i="0" dirty="0">
                <a:effectLst/>
              </a:rPr>
              <a:t>(0, 1, 500)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fig = </a:t>
            </a:r>
            <a:r>
              <a:rPr lang="en-GB" sz="600" b="0" i="0" dirty="0" err="1">
                <a:effectLst/>
              </a:rPr>
              <a:t>plt.figure</a:t>
            </a:r>
            <a:r>
              <a:rPr lang="en-GB" sz="600" b="0" i="0" dirty="0">
                <a:effectLst/>
              </a:rPr>
              <a:t>(</a:t>
            </a:r>
            <a:r>
              <a:rPr lang="en-GB" sz="600" b="0" i="0" dirty="0" err="1">
                <a:effectLst/>
              </a:rPr>
              <a:t>figsize</a:t>
            </a:r>
            <a:r>
              <a:rPr lang="en-GB" sz="600" b="0" i="0" dirty="0">
                <a:effectLst/>
              </a:rPr>
              <a:t>=(600/dpi, 450/dpi), dpi=dpi)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</a:t>
            </a:r>
            <a:r>
              <a:rPr lang="en-GB" sz="600" b="0" i="0" dirty="0">
                <a:effectLst/>
              </a:rPr>
              <a:t> = </a:t>
            </a:r>
            <a:r>
              <a:rPr lang="en-GB" sz="600" b="0" i="0" dirty="0" err="1">
                <a:effectLst/>
              </a:rPr>
              <a:t>fig.add_subplot</a:t>
            </a:r>
            <a:r>
              <a:rPr lang="en-GB" sz="600" b="0" i="0" dirty="0">
                <a:effectLst/>
              </a:rPr>
              <a:t>(111)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# Plot y = f(x) and y = x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ax.plot</a:t>
            </a:r>
            <a:r>
              <a:rPr lang="en-GB" sz="600" b="0" i="0" dirty="0">
                <a:effectLst/>
              </a:rPr>
              <a:t>(x, f(x, r), c='#444444', </a:t>
            </a:r>
            <a:r>
              <a:rPr lang="en-GB" sz="600" b="0" i="0" dirty="0" err="1">
                <a:effectLst/>
              </a:rPr>
              <a:t>lw</a:t>
            </a:r>
            <a:r>
              <a:rPr lang="en-GB" sz="600" b="0" i="0" dirty="0">
                <a:effectLst/>
              </a:rPr>
              <a:t>=2)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ax.plot</a:t>
            </a:r>
            <a:r>
              <a:rPr lang="en-GB" sz="600" b="0" i="0" dirty="0">
                <a:effectLst/>
              </a:rPr>
              <a:t>(x, x, c='#444444', </a:t>
            </a:r>
            <a:r>
              <a:rPr lang="en-GB" sz="600" b="0" i="0" dirty="0" err="1">
                <a:effectLst/>
              </a:rPr>
              <a:t>lw</a:t>
            </a:r>
            <a:r>
              <a:rPr lang="en-GB" sz="600" b="0" i="0" dirty="0">
                <a:effectLst/>
              </a:rPr>
              <a:t>=2)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# Iterate x = f(x) for </a:t>
            </a:r>
            <a:r>
              <a:rPr lang="en-GB" sz="600" b="0" i="0" dirty="0" err="1">
                <a:effectLst/>
              </a:rPr>
              <a:t>nmax</a:t>
            </a:r>
            <a:r>
              <a:rPr lang="en-GB" sz="600" b="0" i="0" dirty="0">
                <a:effectLst/>
              </a:rPr>
              <a:t> steps, starting at (x0, 0).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px</a:t>
            </a:r>
            <a:r>
              <a:rPr lang="en-GB" sz="600" b="0" i="0" dirty="0">
                <a:effectLst/>
              </a:rPr>
              <a:t>, </a:t>
            </a:r>
            <a:r>
              <a:rPr lang="en-GB" sz="600" b="0" i="0" dirty="0" err="1">
                <a:effectLst/>
              </a:rPr>
              <a:t>py</a:t>
            </a:r>
            <a:r>
              <a:rPr lang="en-GB" sz="600" b="0" i="0" dirty="0">
                <a:effectLst/>
              </a:rPr>
              <a:t> = </a:t>
            </a:r>
            <a:r>
              <a:rPr lang="en-GB" sz="600" b="0" i="0" dirty="0" err="1">
                <a:effectLst/>
              </a:rPr>
              <a:t>np.empty</a:t>
            </a:r>
            <a:r>
              <a:rPr lang="en-GB" sz="600" b="0" i="0" dirty="0">
                <a:effectLst/>
              </a:rPr>
              <a:t>((2,nmax+1,2))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px</a:t>
            </a:r>
            <a:r>
              <a:rPr lang="en-GB" sz="600" b="0" i="0" dirty="0">
                <a:effectLst/>
              </a:rPr>
              <a:t>[0], </a:t>
            </a:r>
            <a:r>
              <a:rPr lang="en-GB" sz="600" b="0" i="0" dirty="0" err="1">
                <a:effectLst/>
              </a:rPr>
              <a:t>py</a:t>
            </a:r>
            <a:r>
              <a:rPr lang="en-GB" sz="600" b="0" i="0" dirty="0">
                <a:effectLst/>
              </a:rPr>
              <a:t>[0] = x0, 0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for n in range(1, </a:t>
            </a:r>
            <a:r>
              <a:rPr lang="en-GB" sz="600" b="0" i="0" dirty="0" err="1">
                <a:effectLst/>
              </a:rPr>
              <a:t>nmax</a:t>
            </a:r>
            <a:r>
              <a:rPr lang="en-GB" sz="600" b="0" i="0" dirty="0">
                <a:effectLst/>
              </a:rPr>
              <a:t>, 2):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    </a:t>
            </a:r>
            <a:r>
              <a:rPr lang="en-GB" sz="600" b="0" i="0" dirty="0" err="1">
                <a:effectLst/>
              </a:rPr>
              <a:t>px</a:t>
            </a:r>
            <a:r>
              <a:rPr lang="en-GB" sz="600" b="0" i="0" dirty="0">
                <a:effectLst/>
              </a:rPr>
              <a:t>[n] = </a:t>
            </a:r>
            <a:r>
              <a:rPr lang="en-GB" sz="600" b="0" i="0" dirty="0" err="1">
                <a:effectLst/>
              </a:rPr>
              <a:t>px</a:t>
            </a:r>
            <a:r>
              <a:rPr lang="en-GB" sz="600" b="0" i="0" dirty="0">
                <a:effectLst/>
              </a:rPr>
              <a:t>[n-1]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    </a:t>
            </a:r>
            <a:r>
              <a:rPr lang="en-GB" sz="600" b="0" i="0" dirty="0" err="1">
                <a:effectLst/>
              </a:rPr>
              <a:t>py</a:t>
            </a:r>
            <a:r>
              <a:rPr lang="en-GB" sz="600" b="0" i="0" dirty="0">
                <a:effectLst/>
              </a:rPr>
              <a:t>[n] = f(</a:t>
            </a:r>
            <a:r>
              <a:rPr lang="en-GB" sz="600" b="0" i="0" dirty="0" err="1">
                <a:effectLst/>
              </a:rPr>
              <a:t>px</a:t>
            </a:r>
            <a:r>
              <a:rPr lang="en-GB" sz="600" b="0" i="0" dirty="0">
                <a:effectLst/>
              </a:rPr>
              <a:t>[n-1], r)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    </a:t>
            </a:r>
            <a:r>
              <a:rPr lang="en-GB" sz="600" b="0" i="0" dirty="0" err="1">
                <a:effectLst/>
              </a:rPr>
              <a:t>px</a:t>
            </a:r>
            <a:r>
              <a:rPr lang="en-GB" sz="600" b="0" i="0" dirty="0">
                <a:effectLst/>
              </a:rPr>
              <a:t>[n+1] = </a:t>
            </a:r>
            <a:r>
              <a:rPr lang="en-GB" sz="600" b="0" i="0" dirty="0" err="1">
                <a:effectLst/>
              </a:rPr>
              <a:t>py</a:t>
            </a:r>
            <a:r>
              <a:rPr lang="en-GB" sz="600" b="0" i="0" dirty="0">
                <a:effectLst/>
              </a:rPr>
              <a:t>[n]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    </a:t>
            </a:r>
            <a:r>
              <a:rPr lang="en-GB" sz="600" b="0" i="0" dirty="0" err="1">
                <a:effectLst/>
              </a:rPr>
              <a:t>py</a:t>
            </a:r>
            <a:r>
              <a:rPr lang="en-GB" sz="600" b="0" i="0" dirty="0">
                <a:effectLst/>
              </a:rPr>
              <a:t>[n+1] = </a:t>
            </a:r>
            <a:r>
              <a:rPr lang="en-GB" sz="600" b="0" i="0" dirty="0" err="1">
                <a:effectLst/>
              </a:rPr>
              <a:t>py</a:t>
            </a:r>
            <a:r>
              <a:rPr lang="en-GB" sz="600" b="0" i="0" dirty="0">
                <a:effectLst/>
              </a:rPr>
              <a:t>[n]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# Plot the path traced out by the iteration.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ax.plot</a:t>
            </a:r>
            <a:r>
              <a:rPr lang="en-GB" sz="600" b="0" i="0" dirty="0">
                <a:effectLst/>
              </a:rPr>
              <a:t>(</a:t>
            </a:r>
            <a:r>
              <a:rPr lang="en-GB" sz="600" b="0" i="0" dirty="0" err="1">
                <a:effectLst/>
              </a:rPr>
              <a:t>px</a:t>
            </a:r>
            <a:r>
              <a:rPr lang="en-GB" sz="600" b="0" i="0" dirty="0">
                <a:effectLst/>
              </a:rPr>
              <a:t>, </a:t>
            </a:r>
            <a:r>
              <a:rPr lang="en-GB" sz="600" b="0" i="0" dirty="0" err="1">
                <a:effectLst/>
              </a:rPr>
              <a:t>py</a:t>
            </a:r>
            <a:r>
              <a:rPr lang="en-GB" sz="600" b="0" i="0" dirty="0">
                <a:effectLst/>
              </a:rPr>
              <a:t>, c='b', alpha=0.7)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# Annotate and tidy the plot.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ax.minorticks_on</a:t>
            </a:r>
            <a:r>
              <a:rPr lang="en-GB" sz="600" b="0" i="0" dirty="0">
                <a:effectLst/>
              </a:rPr>
              <a:t>()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ax.grid</a:t>
            </a:r>
            <a:r>
              <a:rPr lang="en-GB" sz="600" b="0" i="0" dirty="0">
                <a:effectLst/>
              </a:rPr>
              <a:t>(which='minor', alpha=0.5)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ax.grid</a:t>
            </a:r>
            <a:r>
              <a:rPr lang="en-GB" sz="600" b="0" i="0" dirty="0">
                <a:effectLst/>
              </a:rPr>
              <a:t>(which='major', alpha=0.5)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ax.set_aspect</a:t>
            </a:r>
            <a:r>
              <a:rPr lang="en-GB" sz="600" b="0" i="0" dirty="0">
                <a:effectLst/>
              </a:rPr>
              <a:t>('equal')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ax.set_xlabel</a:t>
            </a:r>
            <a:r>
              <a:rPr lang="en-GB" sz="600" b="0" i="0" dirty="0">
                <a:effectLst/>
              </a:rPr>
              <a:t>('$x$')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ax.set_ylabel</a:t>
            </a:r>
            <a:r>
              <a:rPr lang="en-GB" sz="600" b="0" i="0" dirty="0">
                <a:effectLst/>
              </a:rPr>
              <a:t>(</a:t>
            </a:r>
            <a:r>
              <a:rPr lang="en-GB" sz="600" b="0" i="0" dirty="0" err="1">
                <a:effectLst/>
              </a:rPr>
              <a:t>f.latex_label</a:t>
            </a:r>
            <a:r>
              <a:rPr lang="en-GB" sz="600" b="0" i="0" dirty="0">
                <a:effectLst/>
              </a:rPr>
              <a:t>)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ax.set_title</a:t>
            </a:r>
            <a:r>
              <a:rPr lang="en-GB" sz="600" b="0" i="0" dirty="0">
                <a:effectLst/>
              </a:rPr>
              <a:t>('$x_0 = {:.1}, r = {:.2}$'.format(x0, r))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</a:t>
            </a:r>
            <a:r>
              <a:rPr lang="en-GB" sz="600" b="0" i="0" dirty="0" err="1">
                <a:effectLst/>
              </a:rPr>
              <a:t>plt.savefig</a:t>
            </a:r>
            <a:r>
              <a:rPr lang="en-GB" sz="600" b="0" i="0" dirty="0">
                <a:effectLst/>
              </a:rPr>
              <a:t>('cobweb_{:.1}_{:.2}.</a:t>
            </a:r>
            <a:r>
              <a:rPr lang="en-GB" sz="600" b="0" i="0" dirty="0" err="1">
                <a:effectLst/>
              </a:rPr>
              <a:t>png</a:t>
            </a:r>
            <a:r>
              <a:rPr lang="en-GB" sz="600" b="0" i="0" dirty="0">
                <a:effectLst/>
              </a:rPr>
              <a:t>'.format(x0, r), dpi=dpi)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class </a:t>
            </a:r>
            <a:r>
              <a:rPr lang="en-GB" sz="600" b="0" i="0" dirty="0" err="1">
                <a:effectLst/>
              </a:rPr>
              <a:t>AnnotatedFunction</a:t>
            </a:r>
            <a:r>
              <a:rPr lang="en-GB" sz="600" b="0" i="0" dirty="0">
                <a:effectLst/>
              </a:rPr>
              <a:t>: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"""A small class representing a mathematical function.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This class is callable so it acts like a Python function, but it also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defines a string giving its latex representation.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"""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def __</a:t>
            </a:r>
            <a:r>
              <a:rPr lang="en-GB" sz="600" b="0" i="0" dirty="0" err="1">
                <a:effectLst/>
              </a:rPr>
              <a:t>init</a:t>
            </a:r>
            <a:r>
              <a:rPr lang="en-GB" sz="600" b="0" i="0" dirty="0">
                <a:effectLst/>
              </a:rPr>
              <a:t>__(self, </a:t>
            </a:r>
            <a:r>
              <a:rPr lang="en-GB" sz="600" b="0" i="0" dirty="0" err="1">
                <a:effectLst/>
              </a:rPr>
              <a:t>func</a:t>
            </a:r>
            <a:r>
              <a:rPr lang="en-GB" sz="600" b="0" i="0" dirty="0">
                <a:effectLst/>
              </a:rPr>
              <a:t>, </a:t>
            </a:r>
            <a:r>
              <a:rPr lang="en-GB" sz="600" b="0" i="0" dirty="0" err="1">
                <a:effectLst/>
              </a:rPr>
              <a:t>latex_label</a:t>
            </a:r>
            <a:r>
              <a:rPr lang="en-GB" sz="600" b="0" i="0" dirty="0">
                <a:effectLst/>
              </a:rPr>
              <a:t>):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    </a:t>
            </a:r>
            <a:r>
              <a:rPr lang="en-GB" sz="600" b="0" i="0" dirty="0" err="1">
                <a:effectLst/>
              </a:rPr>
              <a:t>self.func</a:t>
            </a:r>
            <a:r>
              <a:rPr lang="en-GB" sz="600" b="0" i="0" dirty="0">
                <a:effectLst/>
              </a:rPr>
              <a:t> = </a:t>
            </a:r>
            <a:r>
              <a:rPr lang="en-GB" sz="600" b="0" i="0" dirty="0" err="1">
                <a:effectLst/>
              </a:rPr>
              <a:t>func</a:t>
            </a: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    </a:t>
            </a:r>
            <a:r>
              <a:rPr lang="en-GB" sz="600" b="0" i="0" dirty="0" err="1">
                <a:effectLst/>
              </a:rPr>
              <a:t>self.latex_label</a:t>
            </a:r>
            <a:r>
              <a:rPr lang="en-GB" sz="600" b="0" i="0" dirty="0">
                <a:effectLst/>
              </a:rPr>
              <a:t> = </a:t>
            </a:r>
            <a:r>
              <a:rPr lang="en-GB" sz="600" b="0" i="0" dirty="0" err="1">
                <a:effectLst/>
              </a:rPr>
              <a:t>latex_label</a:t>
            </a:r>
            <a:endParaRPr lang="en-GB" sz="600" b="0" i="0" dirty="0">
              <a:effectLst/>
            </a:endParaRP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def __call__(self, *</a:t>
            </a:r>
            <a:r>
              <a:rPr lang="en-GB" sz="600" b="0" i="0" dirty="0" err="1">
                <a:effectLst/>
              </a:rPr>
              <a:t>args</a:t>
            </a:r>
            <a:r>
              <a:rPr lang="en-GB" sz="600" b="0" i="0" dirty="0">
                <a:effectLst/>
              </a:rPr>
              <a:t>, **</a:t>
            </a:r>
            <a:r>
              <a:rPr lang="en-GB" sz="600" b="0" i="0" dirty="0" err="1">
                <a:effectLst/>
              </a:rPr>
              <a:t>kwargs</a:t>
            </a:r>
            <a:r>
              <a:rPr lang="en-GB" sz="600" b="0" i="0" dirty="0">
                <a:effectLst/>
              </a:rPr>
              <a:t>):</a:t>
            </a: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        return </a:t>
            </a:r>
            <a:r>
              <a:rPr lang="en-GB" sz="600" b="0" i="0" dirty="0" err="1">
                <a:effectLst/>
              </a:rPr>
              <a:t>self.func</a:t>
            </a:r>
            <a:r>
              <a:rPr lang="en-GB" sz="600" b="0" i="0" dirty="0">
                <a:effectLst/>
              </a:rPr>
              <a:t>(*</a:t>
            </a:r>
            <a:r>
              <a:rPr lang="en-GB" sz="600" b="0" i="0" dirty="0" err="1">
                <a:effectLst/>
              </a:rPr>
              <a:t>args</a:t>
            </a:r>
            <a:r>
              <a:rPr lang="en-GB" sz="600" b="0" i="0" dirty="0">
                <a:effectLst/>
              </a:rPr>
              <a:t>, **</a:t>
            </a:r>
            <a:r>
              <a:rPr lang="en-GB" sz="600" b="0" i="0" dirty="0" err="1">
                <a:effectLst/>
              </a:rPr>
              <a:t>kwargs</a:t>
            </a:r>
            <a:r>
              <a:rPr lang="en-GB" sz="600" b="0" i="0" dirty="0">
                <a:effectLst/>
              </a:rPr>
              <a:t>)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>
                <a:effectLst/>
              </a:rPr>
              <a:t># The logistic map, f(x) = </a:t>
            </a:r>
            <a:r>
              <a:rPr lang="en-GB" sz="600" b="0" i="0" dirty="0" err="1">
                <a:effectLst/>
              </a:rPr>
              <a:t>rx</a:t>
            </a:r>
            <a:r>
              <a:rPr lang="en-GB" sz="600" b="0" i="0" dirty="0">
                <a:effectLst/>
              </a:rPr>
              <a:t>(1-x).</a:t>
            </a:r>
          </a:p>
          <a:p>
            <a:pPr algn="l" latinLnBrk="0">
              <a:buNone/>
            </a:pPr>
            <a:r>
              <a:rPr lang="en-GB" sz="600" b="0" i="0" dirty="0" err="1">
                <a:effectLst/>
              </a:rPr>
              <a:t>func</a:t>
            </a:r>
            <a:r>
              <a:rPr lang="en-GB" sz="600" b="0" i="0" dirty="0">
                <a:effectLst/>
              </a:rPr>
              <a:t> = </a:t>
            </a:r>
            <a:r>
              <a:rPr lang="en-GB" sz="600" b="0" i="0" dirty="0" err="1">
                <a:effectLst/>
              </a:rPr>
              <a:t>AnnotatedFunction</a:t>
            </a:r>
            <a:r>
              <a:rPr lang="en-GB" sz="600" b="0" i="0" dirty="0">
                <a:effectLst/>
              </a:rPr>
              <a:t>(lambda </a:t>
            </a:r>
            <a:r>
              <a:rPr lang="en-GB" sz="600" b="0" i="0" dirty="0" err="1">
                <a:effectLst/>
              </a:rPr>
              <a:t>x,r</a:t>
            </a:r>
            <a:r>
              <a:rPr lang="en-GB" sz="600" b="0" i="0" dirty="0">
                <a:effectLst/>
              </a:rPr>
              <a:t>: r*x*(1-x), r'$</a:t>
            </a:r>
            <a:r>
              <a:rPr lang="en-GB" sz="600" b="0" i="0" dirty="0" err="1">
                <a:effectLst/>
              </a:rPr>
              <a:t>rx</a:t>
            </a:r>
            <a:r>
              <a:rPr lang="en-GB" sz="600" b="0" i="0" dirty="0">
                <a:effectLst/>
              </a:rPr>
              <a:t>(1-x)$’)</a:t>
            </a:r>
          </a:p>
          <a:p>
            <a:pPr algn="l" latinLnBrk="0">
              <a:buNone/>
            </a:pPr>
            <a:endParaRPr lang="en-GB" sz="600" b="0" i="0" dirty="0">
              <a:effectLst/>
            </a:endParaRPr>
          </a:p>
          <a:p>
            <a:pPr algn="l" latinLnBrk="0">
              <a:buNone/>
            </a:pPr>
            <a:r>
              <a:rPr lang="en-GB" sz="600" b="0" i="0" dirty="0" err="1">
                <a:effectLst/>
              </a:rPr>
              <a:t>plot_cobweb</a:t>
            </a:r>
            <a:r>
              <a:rPr lang="en-GB" sz="600" b="0" i="0" dirty="0">
                <a:effectLst/>
              </a:rPr>
              <a:t>(</a:t>
            </a:r>
            <a:r>
              <a:rPr lang="en-GB" sz="600" b="0" i="0" dirty="0" err="1">
                <a:effectLst/>
              </a:rPr>
              <a:t>func</a:t>
            </a:r>
            <a:r>
              <a:rPr lang="en-GB" sz="600" b="0" i="0" dirty="0">
                <a:effectLst/>
              </a:rPr>
              <a:t>, 3.8, 0.2, 200)</a:t>
            </a:r>
          </a:p>
        </p:txBody>
      </p:sp>
    </p:spTree>
    <p:extLst>
      <p:ext uri="{BB962C8B-B14F-4D97-AF65-F5344CB8AC3E}">
        <p14:creationId xmlns:p14="http://schemas.microsoft.com/office/powerpoint/2010/main" val="3250337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B94C9-B879-F8D7-245D-6AE78B104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5E26B2-083A-D4A9-530E-4C7A0639AE80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1C27412-1B02-DEA3-8F60-C0488161C8C8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/>
            </a:br>
            <a:r>
              <a:rPr lang="en-GB" sz="4800"/>
              <a:t>LOW VARIABLES #,  DISCRETE TIME</a:t>
            </a:r>
            <a:br>
              <a:rPr lang="en-GB" sz="4800"/>
            </a:br>
            <a:r>
              <a:rPr lang="en-GB" sz="4800"/>
              <a:t>SYSTEMS -ANALYSIS -</a:t>
            </a:r>
            <a:endParaRPr lang="en-GB" sz="4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257334-E91F-126C-763F-937CA6E808B5}"/>
              </a:ext>
            </a:extLst>
          </p:cNvPr>
          <p:cNvSpPr txBox="1"/>
          <p:nvPr/>
        </p:nvSpPr>
        <p:spPr>
          <a:xfrm>
            <a:off x="851337" y="2413338"/>
            <a:ext cx="110656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One of the main objectives of rule-based </a:t>
            </a:r>
            <a:r>
              <a:rPr lang="en-GB" dirty="0" err="1"/>
              <a:t>modeling</a:t>
            </a:r>
            <a:r>
              <a:rPr lang="en-GB" dirty="0"/>
              <a:t> is to make predictions of the future. So, it is a natural question to ask where the system will eventually go in the (infinite) long run. This is called </a:t>
            </a:r>
            <a:r>
              <a:rPr lang="en-GB" b="1" dirty="0"/>
              <a:t>the asymptotic </a:t>
            </a:r>
            <a:r>
              <a:rPr lang="en-GB" b="1" dirty="0" err="1"/>
              <a:t>behavior</a:t>
            </a:r>
            <a:r>
              <a:rPr lang="en-GB" b="1" dirty="0"/>
              <a:t> </a:t>
            </a:r>
            <a:r>
              <a:rPr lang="en-GB" dirty="0"/>
              <a:t>of the system when time is taken to infinity, which turns out to be fully predictable if the system is linear.</a:t>
            </a:r>
          </a:p>
        </p:txBody>
      </p:sp>
    </p:spTree>
    <p:extLst>
      <p:ext uri="{BB962C8B-B14F-4D97-AF65-F5344CB8AC3E}">
        <p14:creationId xmlns:p14="http://schemas.microsoft.com/office/powerpoint/2010/main" val="17016124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8068D-EDBE-7DC8-F7B7-D7842A09A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4DD04F-D3D9-81C1-2436-1B049C2E73D9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2F0CD9-1F79-3EB5-9918-DB5B99033AC7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/>
            </a:br>
            <a:r>
              <a:rPr lang="en-GB" sz="4800"/>
              <a:t>LOW VARIABLES #,  DISCRETE TIME</a:t>
            </a:r>
            <a:br>
              <a:rPr lang="en-GB" sz="4800"/>
            </a:br>
            <a:r>
              <a:rPr lang="en-GB" sz="4800"/>
              <a:t>SYSTEMS -ANALYSIS -</a:t>
            </a:r>
            <a:endParaRPr lang="en-GB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4064DB-67F4-0A24-2617-0F4204E29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344" y="2490214"/>
            <a:ext cx="1209675" cy="333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23BEF-5357-9154-522C-054FBCFC0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3703" y="2386591"/>
            <a:ext cx="1190625" cy="43815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95133-4648-5392-03C7-A52FAE0EA91A}"/>
              </a:ext>
            </a:extLst>
          </p:cNvPr>
          <p:cNvCxnSpPr>
            <a:stCxn id="3" idx="3"/>
          </p:cNvCxnSpPr>
          <p:nvPr/>
        </p:nvCxnSpPr>
        <p:spPr>
          <a:xfrm flipV="1">
            <a:off x="2538019" y="2656901"/>
            <a:ext cx="124375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BCCC52D-DA4D-2883-6568-6D768C446BFE}"/>
              </a:ext>
            </a:extLst>
          </p:cNvPr>
          <p:cNvSpPr txBox="1"/>
          <p:nvPr/>
        </p:nvSpPr>
        <p:spPr>
          <a:xfrm>
            <a:off x="4014895" y="2422868"/>
            <a:ext cx="2238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Closed form solution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C94AC7-0F1C-BB24-2C20-2859B77AE37B}"/>
              </a:ext>
            </a:extLst>
          </p:cNvPr>
          <p:cNvCxnSpPr>
            <a:stCxn id="8" idx="3"/>
            <a:endCxn id="6" idx="1"/>
          </p:cNvCxnSpPr>
          <p:nvPr/>
        </p:nvCxnSpPr>
        <p:spPr>
          <a:xfrm flipV="1">
            <a:off x="6253072" y="2605666"/>
            <a:ext cx="2720631" cy="1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323C41-40DB-F7C9-F09B-8606825C215D}"/>
              </a:ext>
            </a:extLst>
          </p:cNvPr>
          <p:cNvSpPr txBox="1"/>
          <p:nvPr/>
        </p:nvSpPr>
        <p:spPr>
          <a:xfrm>
            <a:off x="4053250" y="3164924"/>
            <a:ext cx="3277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Simplify matrix using eigenvalues and eigenvectors</a:t>
            </a:r>
            <a:endParaRPr lang="en-GB" dirty="0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46E7B4C-E0C8-5469-4C76-35EFA942A935}"/>
              </a:ext>
            </a:extLst>
          </p:cNvPr>
          <p:cNvCxnSpPr>
            <a:stCxn id="6" idx="2"/>
            <a:endCxn id="11" idx="3"/>
          </p:cNvCxnSpPr>
          <p:nvPr/>
        </p:nvCxnSpPr>
        <p:spPr>
          <a:xfrm rot="5400000">
            <a:off x="8118254" y="2037327"/>
            <a:ext cx="663349" cy="223817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2985FDB-C09E-B64C-8AE5-A9432C2D7B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913" y="3772733"/>
            <a:ext cx="1228725" cy="381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E27F0F-3882-8616-9F06-BEDE103B3D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023" y="4291786"/>
            <a:ext cx="3810000" cy="3619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AE3385-D020-165B-21B7-BC49E6D9D7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5604" y="5222301"/>
            <a:ext cx="2838450" cy="447675"/>
          </a:xfrm>
          <a:prstGeom prst="rect">
            <a:avLst/>
          </a:prstGeom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0BFCA40-2D43-5D3E-8FA0-60DFE4E881F1}"/>
              </a:ext>
            </a:extLst>
          </p:cNvPr>
          <p:cNvCxnSpPr>
            <a:stCxn id="11" idx="1"/>
          </p:cNvCxnSpPr>
          <p:nvPr/>
        </p:nvCxnSpPr>
        <p:spPr>
          <a:xfrm rot="10800000" flipV="1">
            <a:off x="2538020" y="3488090"/>
            <a:ext cx="1515231" cy="15627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F2C3D09-681B-B72A-CC8A-0BF520427B4E}"/>
              </a:ext>
            </a:extLst>
          </p:cNvPr>
          <p:cNvCxnSpPr>
            <a:stCxn id="15" idx="3"/>
          </p:cNvCxnSpPr>
          <p:nvPr/>
        </p:nvCxnSpPr>
        <p:spPr>
          <a:xfrm flipV="1">
            <a:off x="4054054" y="5446138"/>
            <a:ext cx="305281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A0E5B8C7-7F2A-030A-B0A8-FF90D7A972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840" y="5050796"/>
            <a:ext cx="3985937" cy="114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0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1BC3A-CDE1-2FFF-B1C9-AC0EB2B62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4328C9-37B3-34CE-035E-F6A498940166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C2783B-6B4C-8F82-915E-5B8E49104864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C8BAEA-0096-AB8D-B71F-E1D514825F73}"/>
              </a:ext>
            </a:extLst>
          </p:cNvPr>
          <p:cNvSpPr txBox="1"/>
          <p:nvPr/>
        </p:nvSpPr>
        <p:spPr>
          <a:xfrm>
            <a:off x="851338" y="2589648"/>
            <a:ext cx="10214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This result clearly shows that the asymptotic </a:t>
            </a:r>
            <a:r>
              <a:rPr lang="en-GB" dirty="0" err="1"/>
              <a:t>behavior</a:t>
            </a:r>
            <a:r>
              <a:rPr lang="en-GB" dirty="0"/>
              <a:t> of </a:t>
            </a:r>
            <a:r>
              <a:rPr lang="en-GB" dirty="0" err="1"/>
              <a:t>x</a:t>
            </a:r>
            <a:r>
              <a:rPr lang="en-GB" sz="1100" dirty="0" err="1"/>
              <a:t>t</a:t>
            </a:r>
            <a:r>
              <a:rPr lang="en-GB" dirty="0"/>
              <a:t> is given by a summation of multiple exponential terms of </a:t>
            </a:r>
            <a:r>
              <a:rPr lang="el-GR" dirty="0"/>
              <a:t>λ</a:t>
            </a:r>
            <a:r>
              <a:rPr lang="en-US" sz="1400" dirty="0"/>
              <a:t>i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0754A4-7854-41BE-3163-87B9BA26A798}"/>
              </a:ext>
            </a:extLst>
          </p:cNvPr>
          <p:cNvSpPr txBox="1"/>
          <p:nvPr/>
        </p:nvSpPr>
        <p:spPr>
          <a:xfrm>
            <a:off x="851338" y="3420009"/>
            <a:ext cx="92657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baseline="0" dirty="0"/>
              <a:t>This eigenvalue with the largest absolute value is called a dominant eigenvalue, and its corresponding eigenvector is called a dominant eigenvector, which will dictate which direction (a.k.a. mode in physics) the system’s state will be going asymptotically</a:t>
            </a:r>
            <a:endParaRPr lang="en-GB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A267EBA-0532-3C17-034C-0065196EDE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909" y="4365895"/>
            <a:ext cx="6509085" cy="1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9590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6F10A-1A44-BE3A-9BCD-BE31426AB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F311150A-675F-2236-50FC-1EF69D67D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68" y="3499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sz="4800" dirty="0"/>
            </a:br>
            <a:r>
              <a:rPr lang="en-GB" sz="4800" dirty="0"/>
              <a:t>LOW VARIABLES #, DISCRETE TIME</a:t>
            </a:r>
            <a:br>
              <a:rPr lang="en-GB" sz="4800" dirty="0"/>
            </a:br>
            <a:r>
              <a:rPr lang="en-GB" sz="4800" dirty="0"/>
              <a:t>SYSTEMS –ANALYSIS -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6CD6D4-65AD-535D-3C1C-7D448EA85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574" y="1675523"/>
            <a:ext cx="7988052" cy="465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1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A2FFF-6709-64A5-3D26-AAEFFEA8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F8400-9EFF-6E6D-85B4-DB1CE53F4700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80694A-71DE-3DBE-2F73-7473219F5CFC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4563E4-45D7-BF30-BD31-53C5D0502105}"/>
              </a:ext>
            </a:extLst>
          </p:cNvPr>
          <p:cNvSpPr txBox="1"/>
          <p:nvPr/>
        </p:nvSpPr>
        <p:spPr>
          <a:xfrm>
            <a:off x="851338" y="2589648"/>
            <a:ext cx="10214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This result clearly shows that the asymptotic </a:t>
            </a:r>
            <a:r>
              <a:rPr lang="en-GB" dirty="0" err="1"/>
              <a:t>behavior</a:t>
            </a:r>
            <a:r>
              <a:rPr lang="en-GB" dirty="0"/>
              <a:t> of </a:t>
            </a:r>
            <a:r>
              <a:rPr lang="en-GB" dirty="0" err="1"/>
              <a:t>x</a:t>
            </a:r>
            <a:r>
              <a:rPr lang="en-GB" sz="1100" dirty="0" err="1"/>
              <a:t>t</a:t>
            </a:r>
            <a:r>
              <a:rPr lang="en-GB" dirty="0"/>
              <a:t> is given by a summation of multiple exponential terms of </a:t>
            </a:r>
            <a:r>
              <a:rPr lang="el-GR" dirty="0"/>
              <a:t>λ</a:t>
            </a:r>
            <a:r>
              <a:rPr lang="en-US" sz="1400" dirty="0"/>
              <a:t>i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06E358-876A-3076-6F7A-69EF261C0238}"/>
              </a:ext>
            </a:extLst>
          </p:cNvPr>
          <p:cNvSpPr txBox="1"/>
          <p:nvPr/>
        </p:nvSpPr>
        <p:spPr>
          <a:xfrm>
            <a:off x="851338" y="3420009"/>
            <a:ext cx="92657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baseline="0" dirty="0"/>
              <a:t>This eigenvalue with the largest absolute value is called a dominant eigenvalue, and its corresponding eigenvector is called a dominant eigenvector, which will dictate which direction (a.k.a. mode in physics) the system’s state will be going asymptotically</a:t>
            </a:r>
            <a:endParaRPr lang="en-GB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C04142C-56E4-FB4E-EEEC-AE6EDA467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909" y="4365895"/>
            <a:ext cx="6509085" cy="1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421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9B3F96-0D25-8742-EBE9-6FA200342F4C}"/>
              </a:ext>
            </a:extLst>
          </p:cNvPr>
          <p:cNvSpPr txBox="1"/>
          <p:nvPr/>
        </p:nvSpPr>
        <p:spPr>
          <a:xfrm>
            <a:off x="700635" y="2299719"/>
            <a:ext cx="108907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This can be considered a very simple, trivial, linear version of self-organization. Let’s look at an example to better understand this concept. Consider the asymptotic </a:t>
            </a:r>
            <a:r>
              <a:rPr lang="en-GB" dirty="0" err="1"/>
              <a:t>behavior</a:t>
            </a:r>
            <a:r>
              <a:rPr lang="en-GB" dirty="0"/>
              <a:t> of the Fibonacci sequence: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EB48F0-96AF-E74C-2E35-834662651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383" y="3290888"/>
            <a:ext cx="1666875" cy="276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2A3D7A-7C2D-5DA9-8C74-25C962DD5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445" y="3120303"/>
            <a:ext cx="1647825" cy="63817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F4ADA9-DE97-FBD1-ED14-6E700C546594}"/>
              </a:ext>
            </a:extLst>
          </p:cNvPr>
          <p:cNvCxnSpPr/>
          <p:nvPr/>
        </p:nvCxnSpPr>
        <p:spPr>
          <a:xfrm>
            <a:off x="5203701" y="3429000"/>
            <a:ext cx="1567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D771DBC-EAB2-E525-A106-844CC3D13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071" y="3920276"/>
            <a:ext cx="1990725" cy="819150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BB459CC-728A-B73D-33C7-BCBE49CFAE59}"/>
              </a:ext>
            </a:extLst>
          </p:cNvPr>
          <p:cNvCxnSpPr>
            <a:endCxn id="9" idx="3"/>
          </p:cNvCxnSpPr>
          <p:nvPr/>
        </p:nvCxnSpPr>
        <p:spPr>
          <a:xfrm rot="10800000" flipV="1">
            <a:off x="6824797" y="3889001"/>
            <a:ext cx="920523" cy="440849"/>
          </a:xfrm>
          <a:prstGeom prst="bentConnector3">
            <a:avLst>
              <a:gd name="adj1" fmla="val 9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22EC528-472A-FA51-CC0E-97D9F3C693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337" y="5035932"/>
            <a:ext cx="1781175" cy="381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8C39B5-7117-5F72-F68C-BC3CCBEDAB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3866" y="4950207"/>
            <a:ext cx="1314450" cy="552450"/>
          </a:xfrm>
          <a:prstGeom prst="rect">
            <a:avLst/>
          </a:prstGeom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945FEE8A-9628-41B0-7579-CCC431D47D7E}"/>
              </a:ext>
            </a:extLst>
          </p:cNvPr>
          <p:cNvCxnSpPr>
            <a:stCxn id="9" idx="1"/>
            <a:endCxn id="11" idx="0"/>
          </p:cNvCxnSpPr>
          <p:nvPr/>
        </p:nvCxnSpPr>
        <p:spPr>
          <a:xfrm rot="10800000" flipV="1">
            <a:off x="4154925" y="4329850"/>
            <a:ext cx="679146" cy="7060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AE6A0C-7569-F3EC-DFEE-BD5B964A15A6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5045512" y="5226432"/>
            <a:ext cx="18983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CDF83C4-508E-0879-3B9A-1925A4FE4F25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A356E23E-9CA6-05D1-8025-326E41F8B6F4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</p:spTree>
    <p:extLst>
      <p:ext uri="{BB962C8B-B14F-4D97-AF65-F5344CB8AC3E}">
        <p14:creationId xmlns:p14="http://schemas.microsoft.com/office/powerpoint/2010/main" val="19634713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73D27D-B154-E5CB-8763-2CE2028F6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191" y="3152775"/>
            <a:ext cx="1314450" cy="5524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5B97B2-081E-B579-3EC7-792EF648254E}"/>
              </a:ext>
            </a:extLst>
          </p:cNvPr>
          <p:cNvSpPr txBox="1"/>
          <p:nvPr/>
        </p:nvSpPr>
        <p:spPr>
          <a:xfrm>
            <a:off x="4989697" y="3105834"/>
            <a:ext cx="16557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1.61803399</a:t>
            </a:r>
          </a:p>
          <a:p>
            <a:r>
              <a:rPr lang="en-GB" dirty="0"/>
              <a:t> -0.61803399.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464A9C-99A9-F0B9-E63A-A9050B96835A}"/>
              </a:ext>
            </a:extLst>
          </p:cNvPr>
          <p:cNvCxnSpPr>
            <a:stCxn id="4" idx="3"/>
          </p:cNvCxnSpPr>
          <p:nvPr/>
        </p:nvCxnSpPr>
        <p:spPr>
          <a:xfrm>
            <a:off x="4442641" y="3429000"/>
            <a:ext cx="389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312ACCF-D114-40B2-CBB3-F890DF0C6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141" y="3201987"/>
            <a:ext cx="2143125" cy="42862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CED870-46E4-CC7A-B026-9E3EB7D24FD6}"/>
              </a:ext>
            </a:extLst>
          </p:cNvPr>
          <p:cNvCxnSpPr/>
          <p:nvPr/>
        </p:nvCxnSpPr>
        <p:spPr>
          <a:xfrm>
            <a:off x="6772802" y="3429000"/>
            <a:ext cx="389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7D38DED-4B07-141D-12F6-3DA1BC8CC683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DDFBF591-D3BB-6220-F04A-F6D967AB4236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</p:spTree>
    <p:extLst>
      <p:ext uri="{BB962C8B-B14F-4D97-AF65-F5344CB8AC3E}">
        <p14:creationId xmlns:p14="http://schemas.microsoft.com/office/powerpoint/2010/main" val="6087741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85CA6-3591-0196-684B-C7D6A742A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47E00FF-98DB-0A1F-B521-596127350D39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33EAD3B8-EEBC-45E2-ED54-8BD563D1D994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pic>
        <p:nvPicPr>
          <p:cNvPr id="12292" name="Picture 4" descr="Golden spiral template. Golden ration and the Fibonacci Spiral 46931490  Vector Art at Vecteezy">
            <a:extLst>
              <a:ext uri="{FF2B5EF4-FFF2-40B4-BE49-F238E27FC236}">
                <a16:creationId xmlns:a16="http://schemas.microsoft.com/office/drawing/2014/main" id="{A781C085-8FC5-4568-EF19-7F7804FB6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502" y="2221490"/>
            <a:ext cx="7205698" cy="436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4314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9C8BC-5288-C025-A7C5-F1011D41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All you need to know about the Golden Ratio in Graphic Design">
            <a:extLst>
              <a:ext uri="{FF2B5EF4-FFF2-40B4-BE49-F238E27FC236}">
                <a16:creationId xmlns:a16="http://schemas.microsoft.com/office/drawing/2014/main" id="{64A6FC86-8608-7F78-4579-A96A5DDB4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0186"/>
            <a:ext cx="12192000" cy="7439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2742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A51D3-3ACF-FFCF-3FEC-9C0C6DA6E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AA06CC5-3849-5A6E-7DD2-306146E10345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9B09AD72-4622-5AFC-285B-A5C8283E89AE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pic>
        <p:nvPicPr>
          <p:cNvPr id="12292" name="Picture 4" descr="Golden spiral template. Golden ration and the Fibonacci Spiral 46931490  Vector Art at Vecteezy">
            <a:extLst>
              <a:ext uri="{FF2B5EF4-FFF2-40B4-BE49-F238E27FC236}">
                <a16:creationId xmlns:a16="http://schemas.microsoft.com/office/drawing/2014/main" id="{440C6376-C11B-3D37-D5DF-4A54F5F91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502" y="2221490"/>
            <a:ext cx="7205698" cy="436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1646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6C9D3-D63B-3AB0-C07A-D8F276C1F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6CFEB1A-BD59-C2AF-827D-068CEAAFCBC7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26682FB5-A41B-FBBA-FD63-4B70986F493C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92676A-B898-7A43-A22A-42534A991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822" y="2841587"/>
            <a:ext cx="8381379" cy="246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6565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CBE85-771F-923B-3CEA-78E7070EF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A3B2A6D-A75D-4CE2-5A74-ABEAA5CC6F21}"/>
              </a:ext>
            </a:extLst>
          </p:cNvPr>
          <p:cNvSpPr txBox="1"/>
          <p:nvPr/>
        </p:nvSpPr>
        <p:spPr>
          <a:xfrm>
            <a:off x="851338" y="1726324"/>
            <a:ext cx="60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ASIMPTOTIC BEHAVIOUR</a:t>
            </a:r>
            <a:endParaRPr lang="en-GB" dirty="0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E6F8F6A0-F2E9-F909-F1E8-656554A0AD0A}"/>
              </a:ext>
            </a:extLst>
          </p:cNvPr>
          <p:cNvSpPr txBox="1">
            <a:spLocks/>
          </p:cNvSpPr>
          <p:nvPr/>
        </p:nvSpPr>
        <p:spPr>
          <a:xfrm>
            <a:off x="550601" y="1098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sz="4800" dirty="0"/>
            </a:br>
            <a:r>
              <a:rPr lang="en-GB" sz="4800" dirty="0"/>
              <a:t>LOW VARIABLES #,  DISCRETE TIME</a:t>
            </a:r>
            <a:br>
              <a:rPr lang="en-GB" sz="4800" dirty="0"/>
            </a:br>
            <a:r>
              <a:rPr lang="en-GB" sz="4800" dirty="0"/>
              <a:t>SYSTEMS -ANALYSIS 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CF29EF-4875-E921-3EA9-92125B316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274" y="2386591"/>
            <a:ext cx="3905451" cy="313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721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383E6-8DCC-1F41-26E2-99C9C21E1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4374D-ED8A-2E2E-D926-64A5F7C77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E29D9-24DE-C44A-A986-BA664FBA761C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815DFFB-6810-EB7A-86E9-E167A33BB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269" y="2629053"/>
            <a:ext cx="3768085" cy="1325563"/>
          </a:xfrm>
        </p:spPr>
        <p:txBody>
          <a:bodyPr/>
          <a:lstStyle/>
          <a:p>
            <a:r>
              <a:rPr lang="en-GB" dirty="0"/>
              <a:t>QUESTIONS?</a:t>
            </a:r>
          </a:p>
        </p:txBody>
      </p:sp>
      <p:pic>
        <p:nvPicPr>
          <p:cNvPr id="11266" name="Picture 2" descr="Starling bird front view full body isolate on transparent background  53815046 PNG">
            <a:extLst>
              <a:ext uri="{FF2B5EF4-FFF2-40B4-BE49-F238E27FC236}">
                <a16:creationId xmlns:a16="http://schemas.microsoft.com/office/drawing/2014/main" id="{1C066153-DA8A-7246-F310-12CB51D8B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977" y="1098816"/>
            <a:ext cx="3773661" cy="3773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98234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74150-E91C-D0EE-7097-DBAE66771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C77522-B67A-6CA6-A21A-1B1D216FC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424" y="735703"/>
            <a:ext cx="6055967" cy="2852737"/>
          </a:xfrm>
        </p:spPr>
        <p:txBody>
          <a:bodyPr/>
          <a:lstStyle/>
          <a:p>
            <a:r>
              <a:rPr lang="en-US" dirty="0"/>
              <a:t>COURSEWORK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36755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292181-2F20-0820-1030-B72EE2612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013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BF843-2F26-49C2-ECAF-D69E531B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819F10-A235-B429-3400-ACC8D1EFB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BF4579-1899-4BC0-9E5F-ACCDD7A56C9C}"/>
              </a:ext>
            </a:extLst>
          </p:cNvPr>
          <p:cNvSpPr txBox="1"/>
          <p:nvPr/>
        </p:nvSpPr>
        <p:spPr>
          <a:xfrm>
            <a:off x="5960993" y="908425"/>
            <a:ext cx="609765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SYSTEM DESCRIPTION</a:t>
            </a:r>
          </a:p>
          <a:p>
            <a:pPr>
              <a:buNone/>
            </a:pPr>
            <a:r>
              <a:rPr lang="en-GB" b="1" dirty="0"/>
              <a:t>Purpose:</a:t>
            </a:r>
            <a:r>
              <a:rPr lang="en-GB" dirty="0"/>
              <a:t> Establish context and technical grounding.</a:t>
            </a:r>
          </a:p>
          <a:p>
            <a:br>
              <a:rPr lang="en-GB" b="1" dirty="0"/>
            </a:br>
            <a:r>
              <a:rPr lang="en-GB" b="1" dirty="0"/>
              <a:t>1 Use Case Scenario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Describes how users experience the AR system in real-world settings.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Introduces the three-stage pipeline: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/>
              <a:t>Data acquisition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/>
              <a:t>Computational processing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/>
              <a:t>Audio generation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2 Technical Features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Explains implementation details (camera input, edge devices, ML models).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Clarifies how data flows through the system.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3 Context &amp; Users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Defines the target audience and typical usage scenarios.</a:t>
            </a:r>
          </a:p>
        </p:txBody>
      </p:sp>
    </p:spTree>
    <p:extLst>
      <p:ext uri="{BB962C8B-B14F-4D97-AF65-F5344CB8AC3E}">
        <p14:creationId xmlns:p14="http://schemas.microsoft.com/office/powerpoint/2010/main" val="14876260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A4192-586A-218B-555A-57805C0E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165F22-71EE-99E3-5AD4-0598C93FD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130936-4844-92BC-FB1A-296A7E73E602}"/>
              </a:ext>
            </a:extLst>
          </p:cNvPr>
          <p:cNvSpPr txBox="1"/>
          <p:nvPr/>
        </p:nvSpPr>
        <p:spPr>
          <a:xfrm>
            <a:off x="5776558" y="780726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CODE OF CONDUCT</a:t>
            </a:r>
          </a:p>
          <a:p>
            <a:pPr>
              <a:buNone/>
            </a:pPr>
            <a:r>
              <a:rPr lang="en-GB" b="1" dirty="0"/>
              <a:t>Purpose:</a:t>
            </a:r>
            <a:r>
              <a:rPr lang="en-GB" dirty="0"/>
              <a:t> Core theoretical and ethical considerations about the system.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7FFB10-C11A-57D7-1489-3FA5731F4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985" y="1859607"/>
            <a:ext cx="4908802" cy="447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953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052BA-DDE2-3736-5FD9-28B11D991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2F5FB1-3FA9-20F8-8357-01D2C7871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BCA283-EDF7-70EC-B410-ECC1337FB7EA}"/>
              </a:ext>
            </a:extLst>
          </p:cNvPr>
          <p:cNvSpPr txBox="1"/>
          <p:nvPr/>
        </p:nvSpPr>
        <p:spPr>
          <a:xfrm>
            <a:off x="5960993" y="1582340"/>
            <a:ext cx="60976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SCENARIOS</a:t>
            </a:r>
          </a:p>
          <a:p>
            <a:pPr>
              <a:buNone/>
            </a:pPr>
            <a:r>
              <a:rPr lang="en-GB" b="1" dirty="0"/>
              <a:t>Purpose:</a:t>
            </a:r>
            <a:r>
              <a:rPr lang="en-GB" dirty="0"/>
              <a:t> Evaluate the codes through speculative storytelling.</a:t>
            </a:r>
          </a:p>
          <a:p>
            <a:pPr>
              <a:buNone/>
            </a:pPr>
            <a:endParaRPr lang="en-GB" dirty="0"/>
          </a:p>
          <a:p>
            <a:r>
              <a:rPr lang="en-GB" dirty="0"/>
              <a:t>1. Introduces a </a:t>
            </a:r>
            <a:r>
              <a:rPr lang="en-GB" b="1" dirty="0"/>
              <a:t>fictional future (2075)</a:t>
            </a:r>
            <a:r>
              <a:rPr lang="en-GB" dirty="0"/>
              <a:t> as a design-fiction method.</a:t>
            </a:r>
          </a:p>
          <a:p>
            <a:endParaRPr lang="en-GB" dirty="0"/>
          </a:p>
          <a:p>
            <a:r>
              <a:rPr lang="en-GB" dirty="0"/>
              <a:t>2. Presents two contrasting scenarios: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Scenario 1:</a:t>
            </a:r>
            <a:r>
              <a:rPr lang="en-GB" dirty="0"/>
              <a:t> Codes are respected → positive, sustainable future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Scenario 2:</a:t>
            </a:r>
            <a:r>
              <a:rPr lang="en-GB" dirty="0"/>
              <a:t> Codes are ignored → surveillance, collapse, loss of trust</a:t>
            </a:r>
          </a:p>
          <a:p>
            <a:endParaRPr lang="en-GB" dirty="0"/>
          </a:p>
          <a:p>
            <a:r>
              <a:rPr lang="en-GB" dirty="0"/>
              <a:t>3. Each scenario is followed by a </a:t>
            </a:r>
            <a:r>
              <a:rPr lang="en-GB" b="1" dirty="0"/>
              <a:t>contextual explanation</a:t>
            </a:r>
            <a:r>
              <a:rPr lang="en-GB" dirty="0"/>
              <a:t> linking the fiction back to technical and societal implications.</a:t>
            </a:r>
          </a:p>
        </p:txBody>
      </p:sp>
    </p:spTree>
    <p:extLst>
      <p:ext uri="{BB962C8B-B14F-4D97-AF65-F5344CB8AC3E}">
        <p14:creationId xmlns:p14="http://schemas.microsoft.com/office/powerpoint/2010/main" val="35836487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0988F-160C-DB45-5CBC-11E0B43B3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BE205E-F828-FB9E-DE7D-BE8D94250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541AA3-68A4-3C30-1F20-E2B0CFD70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548" y="1482625"/>
            <a:ext cx="2254366" cy="3892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6A8C60-62C0-DAE3-F929-B49BC9E917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942" y="1444523"/>
            <a:ext cx="2279767" cy="396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1149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AB811-C862-7E65-9691-B04ECF37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A89B7F-7F7C-9863-B874-43B45A9F1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D8B52F-57CE-B0A2-1FE3-C8A2D8C06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558" y="2146851"/>
            <a:ext cx="5520549" cy="22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7942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18DD3-4794-A84E-983F-3A9A411DD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0E28FF-6321-A600-709B-D9D5AC31D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983C1C-551D-7128-B67A-44C67802E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558" y="1119677"/>
            <a:ext cx="5137414" cy="12954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16E52D-A19A-8EFC-3811-8117402643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521" b="10520"/>
          <a:stretch>
            <a:fillRect/>
          </a:stretch>
        </p:blipFill>
        <p:spPr>
          <a:xfrm>
            <a:off x="5776558" y="3125191"/>
            <a:ext cx="5831242" cy="281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406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D539-D722-2CC7-8109-8A60AFA2F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E52401-1804-DE95-84BF-C27029D95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3AC1B5-459B-4EE5-2E9C-DA79A332A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558" y="1142965"/>
            <a:ext cx="5518434" cy="137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741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72001-9454-C72D-DD5E-C919F74C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631B6B-73BD-141F-E55F-DE22E8507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892A0B-BFB8-6109-101F-9F6DD3E9EB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03" y="2649512"/>
            <a:ext cx="5419297" cy="155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961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1697C-7250-D629-FF4C-0DEB97D5C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17F344-A671-F0BF-8D7E-9AF4AB33C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840290-007D-AB30-7E08-3BAE40EDE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089" y="1116012"/>
            <a:ext cx="58388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2347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362DB-6A6B-CD1D-6867-CAC296897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AE163F-D137-D91F-92F1-C3CC807A7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86" y="0"/>
            <a:ext cx="534447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696EFA-6840-0E43-B0B0-A2D15834B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700" y="1854200"/>
            <a:ext cx="62992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60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af88fe-a998-4c5b-93c9-210a11d9a5c2}" enabled="0" method="" siteId="{1faf88fe-a998-4c5b-93c9-210a11d9a5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30624</TotalTime>
  <Words>3720</Words>
  <Application>Microsoft Office PowerPoint</Application>
  <PresentationFormat>Widescreen</PresentationFormat>
  <Paragraphs>492</Paragraphs>
  <Slides>57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8" baseType="lpstr">
      <vt:lpstr>Aptos</vt:lpstr>
      <vt:lpstr>Aptos Display</vt:lpstr>
      <vt:lpstr>Arial</vt:lpstr>
      <vt:lpstr>Cambria Math</vt:lpstr>
      <vt:lpstr>CMITT10</vt:lpstr>
      <vt:lpstr>CMTT12</vt:lpstr>
      <vt:lpstr>Georgia</vt:lpstr>
      <vt:lpstr>KaTeX_Main</vt:lpstr>
      <vt:lpstr>KaTeX_Math</vt:lpstr>
      <vt:lpstr>Söhne</vt:lpstr>
      <vt:lpstr>Office Theme</vt:lpstr>
      <vt:lpstr>PowerPoint Presentation</vt:lpstr>
      <vt:lpstr>WEEK 3: SYSTEM THINKING THROUGH SPECULATIVE DESIGN (STSD)</vt:lpstr>
      <vt:lpstr> LOW VARIABLES # DISCRETE TIME SYSTEMS 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</vt:lpstr>
      <vt:lpstr> LOW VARIABLES #,  DISCRETE TIME SYSTEMS -MODELING- EXAMPLE</vt:lpstr>
      <vt:lpstr> LOW VARIABLES #,  DISCRETE TIME SYSTEMS -MODELING- EXAMPLE</vt:lpstr>
      <vt:lpstr> LOW VARIABLES #,  DISCRETE TIME SYSTEMS -MODELING- EXAMPLE</vt:lpstr>
      <vt:lpstr> LOW VARIABLES #,  DISCRETE TIME SYSTEMS -MODELING- EXAMPLE</vt:lpstr>
      <vt:lpstr> LOW VARIABLES #,  DISCRETE TIME SYSTEMS -MODELING- EXAMPLE</vt:lpstr>
      <vt:lpstr> LOW VARIABLES #,  DISCRETE TIME SYSTEMS -MODELING- EXAMPLE</vt:lpstr>
      <vt:lpstr> LOW VARIABLES #,  DISCRETE TIME SYSTEMS -MODELING- EXAMPLE</vt:lpstr>
      <vt:lpstr> LOW VARIABLES # DISCRETE TIME SYSTEMS  -ANALYSIS-</vt:lpstr>
      <vt:lpstr> LOW VARIABLES #,  DISCRETE TIME SYSTEMS -ANALYSIS -</vt:lpstr>
      <vt:lpstr> LOW VARIABLES #,  DISCRETE TIME SYSTEMS -ANALYSIS -</vt:lpstr>
      <vt:lpstr> LOW VARIABLES #,  DISCRETE TIME SYSTEMS -ANALYSIS -</vt:lpstr>
      <vt:lpstr> LOW VARIABLES #,  DISCRETE TIME SYSTEMS -ANALYSIS -</vt:lpstr>
      <vt:lpstr> LOW VARIABLES #,  DISCRETE TIME SYSTEMS -ANALYSIS -</vt:lpstr>
      <vt:lpstr> LOW VARIABLES #,  DISCRETE TIME SYSTEMS -ANALYSIS -</vt:lpstr>
      <vt:lpstr>PowerPoint Presentation</vt:lpstr>
      <vt:lpstr>PowerPoint Presentation</vt:lpstr>
      <vt:lpstr>PowerPoint Presentation</vt:lpstr>
      <vt:lpstr>PowerPoint Presentation</vt:lpstr>
      <vt:lpstr> LOW VARIABLES #, DISCRETE TIME SYSTEMS –ANALYSIS 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  <vt:lpstr>COURSEWORK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Gatti, Elia</dc:creator>
  <cp:lastModifiedBy>Gatti, Elia</cp:lastModifiedBy>
  <cp:revision>11</cp:revision>
  <dcterms:created xsi:type="dcterms:W3CDTF">2025-12-21T21:27:56Z</dcterms:created>
  <dcterms:modified xsi:type="dcterms:W3CDTF">2026-02-04T09:22:00Z</dcterms:modified>
</cp:coreProperties>
</file>